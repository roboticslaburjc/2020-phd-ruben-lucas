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P7zzunyVDBH7G180SPGSkQ7sv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4225" y="767575"/>
            <a:ext cx="473625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400" y="4861425"/>
            <a:ext cx="568322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2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f3d76e110_0_971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df3d76e110_0_971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f3d76e110_0_1099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df3d76e110_0_1099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f3d76e110_0_1186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df3d76e110_0_1186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f3d76e110_0_1160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df3d76e110_0_1160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b38136098_0_1799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db38136098_0_1799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b38136098_0_1825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db38136098_0_1825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b38136098_0_1830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db38136098_0_1830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f3d76e110_0_1131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df3d76e110_0_1131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b38136098_0_1838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g3db38136098_0_1838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f3d76e110_0_428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df3d76e110_0_428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:notes"/>
          <p:cNvSpPr txBox="1"/>
          <p:nvPr>
            <p:ph idx="1" type="body"/>
          </p:nvPr>
        </p:nvSpPr>
        <p:spPr>
          <a:xfrm>
            <a:off x="710400" y="4861425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10:notes"/>
          <p:cNvSpPr/>
          <p:nvPr>
            <p:ph idx="2" type="sldImg"/>
          </p:nvPr>
        </p:nvSpPr>
        <p:spPr>
          <a:xfrm>
            <a:off x="1184225" y="767575"/>
            <a:ext cx="4736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b38136098_0_777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db38136098_0_777"/>
          <p:cNvSpPr txBox="1"/>
          <p:nvPr>
            <p:ph idx="1" type="subTitle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b38136098_0_781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db38136098_0_781"/>
          <p:cNvSpPr txBox="1"/>
          <p:nvPr>
            <p:ph idx="1" type="body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b38136098_0_784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db38136098_0_784"/>
          <p:cNvSpPr txBox="1"/>
          <p:nvPr>
            <p:ph idx="1" type="body"/>
          </p:nvPr>
        </p:nvSpPr>
        <p:spPr>
          <a:xfrm>
            <a:off x="60948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db38136098_0_784"/>
          <p:cNvSpPr txBox="1"/>
          <p:nvPr>
            <p:ph idx="2" type="body"/>
          </p:nvPr>
        </p:nvSpPr>
        <p:spPr>
          <a:xfrm>
            <a:off x="623196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b38136098_0_788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db38136098_0_790"/>
          <p:cNvSpPr txBox="1"/>
          <p:nvPr>
            <p:ph idx="1" type="subTitle"/>
          </p:nvPr>
        </p:nvSpPr>
        <p:spPr>
          <a:xfrm>
            <a:off x="609480" y="190440"/>
            <a:ext cx="109725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b38136098_0_792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db38136098_0_792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db38136098_0_792"/>
          <p:cNvSpPr txBox="1"/>
          <p:nvPr>
            <p:ph idx="2" type="body"/>
          </p:nvPr>
        </p:nvSpPr>
        <p:spPr>
          <a:xfrm>
            <a:off x="623196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db38136098_0_792"/>
          <p:cNvSpPr txBox="1"/>
          <p:nvPr>
            <p:ph idx="3" type="body"/>
          </p:nvPr>
        </p:nvSpPr>
        <p:spPr>
          <a:xfrm>
            <a:off x="60948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db38136098_0_797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db38136098_0_797"/>
          <p:cNvSpPr txBox="1"/>
          <p:nvPr>
            <p:ph idx="1" type="body"/>
          </p:nvPr>
        </p:nvSpPr>
        <p:spPr>
          <a:xfrm>
            <a:off x="60948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db38136098_0_797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db38136098_0_797"/>
          <p:cNvSpPr txBox="1"/>
          <p:nvPr>
            <p:ph idx="3" type="body"/>
          </p:nvPr>
        </p:nvSpPr>
        <p:spPr>
          <a:xfrm>
            <a:off x="623196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db38136098_0_802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db38136098_0_802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db38136098_0_802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db38136098_0_802"/>
          <p:cNvSpPr txBox="1"/>
          <p:nvPr>
            <p:ph idx="3" type="body"/>
          </p:nvPr>
        </p:nvSpPr>
        <p:spPr>
          <a:xfrm>
            <a:off x="609480" y="376164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b38136098_0_807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db38136098_0_807"/>
          <p:cNvSpPr txBox="1"/>
          <p:nvPr>
            <p:ph idx="1" type="body"/>
          </p:nvPr>
        </p:nvSpPr>
        <p:spPr>
          <a:xfrm>
            <a:off x="609480" y="117468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db38136098_0_807"/>
          <p:cNvSpPr txBox="1"/>
          <p:nvPr>
            <p:ph idx="2" type="body"/>
          </p:nvPr>
        </p:nvSpPr>
        <p:spPr>
          <a:xfrm>
            <a:off x="609480" y="376164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b38136098_0_811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db38136098_0_811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db38136098_0_811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db38136098_0_811"/>
          <p:cNvSpPr txBox="1"/>
          <p:nvPr>
            <p:ph idx="3" type="body"/>
          </p:nvPr>
        </p:nvSpPr>
        <p:spPr>
          <a:xfrm>
            <a:off x="60948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db38136098_0_811"/>
          <p:cNvSpPr txBox="1"/>
          <p:nvPr>
            <p:ph idx="4" type="body"/>
          </p:nvPr>
        </p:nvSpPr>
        <p:spPr>
          <a:xfrm>
            <a:off x="623196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b38136098_0_817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db38136098_0_817"/>
          <p:cNvSpPr txBox="1"/>
          <p:nvPr>
            <p:ph idx="1" type="body"/>
          </p:nvPr>
        </p:nvSpPr>
        <p:spPr>
          <a:xfrm>
            <a:off x="60948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db38136098_0_817"/>
          <p:cNvSpPr txBox="1"/>
          <p:nvPr>
            <p:ph idx="2" type="body"/>
          </p:nvPr>
        </p:nvSpPr>
        <p:spPr>
          <a:xfrm>
            <a:off x="431964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db38136098_0_817"/>
          <p:cNvSpPr txBox="1"/>
          <p:nvPr>
            <p:ph idx="3" type="body"/>
          </p:nvPr>
        </p:nvSpPr>
        <p:spPr>
          <a:xfrm>
            <a:off x="802980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db38136098_0_817"/>
          <p:cNvSpPr txBox="1"/>
          <p:nvPr>
            <p:ph idx="4" type="body"/>
          </p:nvPr>
        </p:nvSpPr>
        <p:spPr>
          <a:xfrm>
            <a:off x="60948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db38136098_0_817"/>
          <p:cNvSpPr txBox="1"/>
          <p:nvPr>
            <p:ph idx="5" type="body"/>
          </p:nvPr>
        </p:nvSpPr>
        <p:spPr>
          <a:xfrm>
            <a:off x="431964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db38136098_0_817"/>
          <p:cNvSpPr txBox="1"/>
          <p:nvPr>
            <p:ph idx="6" type="body"/>
          </p:nvPr>
        </p:nvSpPr>
        <p:spPr>
          <a:xfrm>
            <a:off x="802980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b38136098_0_3049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db38136098_0_3049"/>
          <p:cNvSpPr txBox="1"/>
          <p:nvPr>
            <p:ph idx="1" type="subTitle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b38136098_0_3052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db38136098_0_3052"/>
          <p:cNvSpPr txBox="1"/>
          <p:nvPr>
            <p:ph idx="1" type="body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b38136098_0_3055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db38136098_0_3055"/>
          <p:cNvSpPr txBox="1"/>
          <p:nvPr>
            <p:ph idx="1" type="body"/>
          </p:nvPr>
        </p:nvSpPr>
        <p:spPr>
          <a:xfrm>
            <a:off x="60948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db38136098_0_3055"/>
          <p:cNvSpPr txBox="1"/>
          <p:nvPr>
            <p:ph idx="2" type="body"/>
          </p:nvPr>
        </p:nvSpPr>
        <p:spPr>
          <a:xfrm>
            <a:off x="623196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b38136098_0_3059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b38136098_0_3061"/>
          <p:cNvSpPr txBox="1"/>
          <p:nvPr>
            <p:ph idx="1" type="subTitle"/>
          </p:nvPr>
        </p:nvSpPr>
        <p:spPr>
          <a:xfrm>
            <a:off x="609480" y="190440"/>
            <a:ext cx="109725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b38136098_0_3063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db38136098_0_3063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db38136098_0_3063"/>
          <p:cNvSpPr txBox="1"/>
          <p:nvPr>
            <p:ph idx="2" type="body"/>
          </p:nvPr>
        </p:nvSpPr>
        <p:spPr>
          <a:xfrm>
            <a:off x="623196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db38136098_0_3063"/>
          <p:cNvSpPr txBox="1"/>
          <p:nvPr>
            <p:ph idx="3" type="body"/>
          </p:nvPr>
        </p:nvSpPr>
        <p:spPr>
          <a:xfrm>
            <a:off x="60948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b38136098_0_3068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db38136098_0_3068"/>
          <p:cNvSpPr txBox="1"/>
          <p:nvPr>
            <p:ph idx="1" type="body"/>
          </p:nvPr>
        </p:nvSpPr>
        <p:spPr>
          <a:xfrm>
            <a:off x="60948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db38136098_0_3068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db38136098_0_3068"/>
          <p:cNvSpPr txBox="1"/>
          <p:nvPr>
            <p:ph idx="3" type="body"/>
          </p:nvPr>
        </p:nvSpPr>
        <p:spPr>
          <a:xfrm>
            <a:off x="623196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b38136098_0_3073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db38136098_0_3073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db38136098_0_3073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db38136098_0_3073"/>
          <p:cNvSpPr txBox="1"/>
          <p:nvPr>
            <p:ph idx="3" type="body"/>
          </p:nvPr>
        </p:nvSpPr>
        <p:spPr>
          <a:xfrm>
            <a:off x="609480" y="376164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b38136098_0_3078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db38136098_0_3078"/>
          <p:cNvSpPr txBox="1"/>
          <p:nvPr>
            <p:ph idx="1" type="body"/>
          </p:nvPr>
        </p:nvSpPr>
        <p:spPr>
          <a:xfrm>
            <a:off x="609480" y="117468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db38136098_0_3078"/>
          <p:cNvSpPr txBox="1"/>
          <p:nvPr>
            <p:ph idx="2" type="body"/>
          </p:nvPr>
        </p:nvSpPr>
        <p:spPr>
          <a:xfrm>
            <a:off x="609480" y="376164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38136098_0_3082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db38136098_0_3082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db38136098_0_3082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db38136098_0_3082"/>
          <p:cNvSpPr txBox="1"/>
          <p:nvPr>
            <p:ph idx="3" type="body"/>
          </p:nvPr>
        </p:nvSpPr>
        <p:spPr>
          <a:xfrm>
            <a:off x="60948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db38136098_0_3082"/>
          <p:cNvSpPr txBox="1"/>
          <p:nvPr>
            <p:ph idx="4" type="body"/>
          </p:nvPr>
        </p:nvSpPr>
        <p:spPr>
          <a:xfrm>
            <a:off x="623196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b38136098_0_3088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db38136098_0_3088"/>
          <p:cNvSpPr txBox="1"/>
          <p:nvPr>
            <p:ph idx="1" type="body"/>
          </p:nvPr>
        </p:nvSpPr>
        <p:spPr>
          <a:xfrm>
            <a:off x="60948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db38136098_0_3088"/>
          <p:cNvSpPr txBox="1"/>
          <p:nvPr>
            <p:ph idx="2" type="body"/>
          </p:nvPr>
        </p:nvSpPr>
        <p:spPr>
          <a:xfrm>
            <a:off x="431964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db38136098_0_3088"/>
          <p:cNvSpPr txBox="1"/>
          <p:nvPr>
            <p:ph idx="3" type="body"/>
          </p:nvPr>
        </p:nvSpPr>
        <p:spPr>
          <a:xfrm>
            <a:off x="802980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db38136098_0_3088"/>
          <p:cNvSpPr txBox="1"/>
          <p:nvPr>
            <p:ph idx="4" type="body"/>
          </p:nvPr>
        </p:nvSpPr>
        <p:spPr>
          <a:xfrm>
            <a:off x="60948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db38136098_0_3088"/>
          <p:cNvSpPr txBox="1"/>
          <p:nvPr>
            <p:ph idx="5" type="body"/>
          </p:nvPr>
        </p:nvSpPr>
        <p:spPr>
          <a:xfrm>
            <a:off x="431964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db38136098_0_3088"/>
          <p:cNvSpPr txBox="1"/>
          <p:nvPr>
            <p:ph idx="6" type="body"/>
          </p:nvPr>
        </p:nvSpPr>
        <p:spPr>
          <a:xfrm>
            <a:off x="802980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f3d76e110_0_1729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df3d76e110_0_1729"/>
          <p:cNvSpPr txBox="1"/>
          <p:nvPr>
            <p:ph idx="1" type="subTitle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f3d76e110_0_1732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df3d76e110_0_1732"/>
          <p:cNvSpPr txBox="1"/>
          <p:nvPr>
            <p:ph idx="1" type="body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3d76e110_0_1735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df3d76e110_0_1735"/>
          <p:cNvSpPr txBox="1"/>
          <p:nvPr>
            <p:ph idx="1" type="body"/>
          </p:nvPr>
        </p:nvSpPr>
        <p:spPr>
          <a:xfrm>
            <a:off x="60948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df3d76e110_0_1735"/>
          <p:cNvSpPr txBox="1"/>
          <p:nvPr>
            <p:ph idx="2" type="body"/>
          </p:nvPr>
        </p:nvSpPr>
        <p:spPr>
          <a:xfrm>
            <a:off x="623196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f3d76e110_0_1739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f3d76e110_0_1741"/>
          <p:cNvSpPr txBox="1"/>
          <p:nvPr>
            <p:ph idx="1" type="subTitle"/>
          </p:nvPr>
        </p:nvSpPr>
        <p:spPr>
          <a:xfrm>
            <a:off x="609480" y="190440"/>
            <a:ext cx="109725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f3d76e110_0_1743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df3d76e110_0_1743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df3d76e110_0_1743"/>
          <p:cNvSpPr txBox="1"/>
          <p:nvPr>
            <p:ph idx="2" type="body"/>
          </p:nvPr>
        </p:nvSpPr>
        <p:spPr>
          <a:xfrm>
            <a:off x="623196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df3d76e110_0_1743"/>
          <p:cNvSpPr txBox="1"/>
          <p:nvPr>
            <p:ph idx="3" type="body"/>
          </p:nvPr>
        </p:nvSpPr>
        <p:spPr>
          <a:xfrm>
            <a:off x="60948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f3d76e110_0_1748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df3d76e110_0_1748"/>
          <p:cNvSpPr txBox="1"/>
          <p:nvPr>
            <p:ph idx="1" type="body"/>
          </p:nvPr>
        </p:nvSpPr>
        <p:spPr>
          <a:xfrm>
            <a:off x="609480" y="1174680"/>
            <a:ext cx="53544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df3d76e110_0_1748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df3d76e110_0_1748"/>
          <p:cNvSpPr txBox="1"/>
          <p:nvPr>
            <p:ph idx="3" type="body"/>
          </p:nvPr>
        </p:nvSpPr>
        <p:spPr>
          <a:xfrm>
            <a:off x="623196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3d76e110_0_1753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df3d76e110_0_1753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df3d76e110_0_1753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df3d76e110_0_1753"/>
          <p:cNvSpPr txBox="1"/>
          <p:nvPr>
            <p:ph idx="3" type="body"/>
          </p:nvPr>
        </p:nvSpPr>
        <p:spPr>
          <a:xfrm>
            <a:off x="609480" y="376164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f3d76e110_0_1758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df3d76e110_0_1758"/>
          <p:cNvSpPr txBox="1"/>
          <p:nvPr>
            <p:ph idx="1" type="body"/>
          </p:nvPr>
        </p:nvSpPr>
        <p:spPr>
          <a:xfrm>
            <a:off x="609480" y="117468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df3d76e110_0_1758"/>
          <p:cNvSpPr txBox="1"/>
          <p:nvPr>
            <p:ph idx="2" type="body"/>
          </p:nvPr>
        </p:nvSpPr>
        <p:spPr>
          <a:xfrm>
            <a:off x="609480" y="3761640"/>
            <a:ext cx="109725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f3d76e110_0_1762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df3d76e110_0_1762"/>
          <p:cNvSpPr txBox="1"/>
          <p:nvPr>
            <p:ph idx="1" type="body"/>
          </p:nvPr>
        </p:nvSpPr>
        <p:spPr>
          <a:xfrm>
            <a:off x="60948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df3d76e110_0_1762"/>
          <p:cNvSpPr txBox="1"/>
          <p:nvPr>
            <p:ph idx="2" type="body"/>
          </p:nvPr>
        </p:nvSpPr>
        <p:spPr>
          <a:xfrm>
            <a:off x="6231960" y="117468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df3d76e110_0_1762"/>
          <p:cNvSpPr txBox="1"/>
          <p:nvPr>
            <p:ph idx="3" type="body"/>
          </p:nvPr>
        </p:nvSpPr>
        <p:spPr>
          <a:xfrm>
            <a:off x="60948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df3d76e110_0_1762"/>
          <p:cNvSpPr txBox="1"/>
          <p:nvPr>
            <p:ph idx="4" type="body"/>
          </p:nvPr>
        </p:nvSpPr>
        <p:spPr>
          <a:xfrm>
            <a:off x="6231960" y="3761640"/>
            <a:ext cx="535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f3d76e110_0_1768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df3d76e110_0_1768"/>
          <p:cNvSpPr txBox="1"/>
          <p:nvPr>
            <p:ph idx="1" type="body"/>
          </p:nvPr>
        </p:nvSpPr>
        <p:spPr>
          <a:xfrm>
            <a:off x="60948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df3d76e110_0_1768"/>
          <p:cNvSpPr txBox="1"/>
          <p:nvPr>
            <p:ph idx="2" type="body"/>
          </p:nvPr>
        </p:nvSpPr>
        <p:spPr>
          <a:xfrm>
            <a:off x="431964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df3d76e110_0_1768"/>
          <p:cNvSpPr txBox="1"/>
          <p:nvPr>
            <p:ph idx="3" type="body"/>
          </p:nvPr>
        </p:nvSpPr>
        <p:spPr>
          <a:xfrm>
            <a:off x="8029800" y="117468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df3d76e110_0_1768"/>
          <p:cNvSpPr txBox="1"/>
          <p:nvPr>
            <p:ph idx="4" type="body"/>
          </p:nvPr>
        </p:nvSpPr>
        <p:spPr>
          <a:xfrm>
            <a:off x="60948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df3d76e110_0_1768"/>
          <p:cNvSpPr txBox="1"/>
          <p:nvPr>
            <p:ph idx="5" type="body"/>
          </p:nvPr>
        </p:nvSpPr>
        <p:spPr>
          <a:xfrm>
            <a:off x="431964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df3d76e110_0_1768"/>
          <p:cNvSpPr txBox="1"/>
          <p:nvPr>
            <p:ph idx="6" type="body"/>
          </p:nvPr>
        </p:nvSpPr>
        <p:spPr>
          <a:xfrm>
            <a:off x="8029800" y="3761640"/>
            <a:ext cx="35331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db38136098_0_76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1759" cy="6857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3db38136098_0_7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080"/>
            <a:ext cx="12206520" cy="68670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g3db38136098_0_769"/>
          <p:cNvSpPr txBox="1"/>
          <p:nvPr>
            <p:ph type="title"/>
          </p:nvPr>
        </p:nvSpPr>
        <p:spPr>
          <a:xfrm>
            <a:off x="2063880" y="1701720"/>
            <a:ext cx="92112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3db38136098_0_769"/>
          <p:cNvSpPr txBox="1"/>
          <p:nvPr>
            <p:ph idx="10" type="dt"/>
          </p:nvPr>
        </p:nvSpPr>
        <p:spPr>
          <a:xfrm>
            <a:off x="609480" y="6245280"/>
            <a:ext cx="2844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g3db38136098_0_769"/>
          <p:cNvSpPr txBox="1"/>
          <p:nvPr>
            <p:ph idx="11" type="ftr"/>
          </p:nvPr>
        </p:nvSpPr>
        <p:spPr>
          <a:xfrm>
            <a:off x="4165560" y="6245280"/>
            <a:ext cx="3860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db38136098_0_769"/>
          <p:cNvSpPr txBox="1"/>
          <p:nvPr>
            <p:ph idx="12" type="sldNum"/>
          </p:nvPr>
        </p:nvSpPr>
        <p:spPr>
          <a:xfrm>
            <a:off x="8737560" y="6245280"/>
            <a:ext cx="2844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db38136098_0_769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db38136098_0_30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1759" cy="685763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b38136098_0_3041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db38136098_0_3041"/>
          <p:cNvSpPr txBox="1"/>
          <p:nvPr>
            <p:ph idx="1" type="body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db38136098_0_3041"/>
          <p:cNvSpPr txBox="1"/>
          <p:nvPr>
            <p:ph idx="10" type="dt"/>
          </p:nvPr>
        </p:nvSpPr>
        <p:spPr>
          <a:xfrm>
            <a:off x="609480" y="6245280"/>
            <a:ext cx="2844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3db38136098_0_3041"/>
          <p:cNvSpPr txBox="1"/>
          <p:nvPr>
            <p:ph idx="11" type="ftr"/>
          </p:nvPr>
        </p:nvSpPr>
        <p:spPr>
          <a:xfrm>
            <a:off x="4165560" y="6245280"/>
            <a:ext cx="3860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g3db38136098_0_3041"/>
          <p:cNvSpPr txBox="1"/>
          <p:nvPr>
            <p:ph idx="12" type="sldNum"/>
          </p:nvPr>
        </p:nvSpPr>
        <p:spPr>
          <a:xfrm>
            <a:off x="8737560" y="6245280"/>
            <a:ext cx="2844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df3d76e110_0_17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1759" cy="685763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df3d76e110_0_1721"/>
          <p:cNvSpPr txBox="1"/>
          <p:nvPr>
            <p:ph type="title"/>
          </p:nvPr>
        </p:nvSpPr>
        <p:spPr>
          <a:xfrm>
            <a:off x="609480" y="190440"/>
            <a:ext cx="10972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g3df3d76e110_0_1721"/>
          <p:cNvSpPr txBox="1"/>
          <p:nvPr>
            <p:ph idx="1" type="body"/>
          </p:nvPr>
        </p:nvSpPr>
        <p:spPr>
          <a:xfrm>
            <a:off x="609480" y="1174680"/>
            <a:ext cx="109725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g3df3d76e110_0_1721"/>
          <p:cNvSpPr txBox="1"/>
          <p:nvPr>
            <p:ph idx="10" type="dt"/>
          </p:nvPr>
        </p:nvSpPr>
        <p:spPr>
          <a:xfrm>
            <a:off x="609480" y="6245280"/>
            <a:ext cx="2844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g3df3d76e110_0_1721"/>
          <p:cNvSpPr txBox="1"/>
          <p:nvPr>
            <p:ph idx="11" type="ftr"/>
          </p:nvPr>
        </p:nvSpPr>
        <p:spPr>
          <a:xfrm>
            <a:off x="4165560" y="6245280"/>
            <a:ext cx="3860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df3d76e110_0_1721"/>
          <p:cNvSpPr txBox="1"/>
          <p:nvPr>
            <p:ph idx="12" type="sldNum"/>
          </p:nvPr>
        </p:nvSpPr>
        <p:spPr>
          <a:xfrm>
            <a:off x="8737560" y="6245280"/>
            <a:ext cx="2844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Ye_iHUaL_A2AnMpmteODefGLCDpC9tQq/view" TargetMode="External"/><Relationship Id="rId5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/>
          <p:nvPr/>
        </p:nvSpPr>
        <p:spPr>
          <a:xfrm>
            <a:off x="0" y="1524000"/>
            <a:ext cx="12192000" cy="38100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762000" y="2286000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Seguimiento tesis 2025/2026</a:t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762000" y="35242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Rubén Lucas Zaragoza</a:t>
            </a:r>
            <a:endParaRPr b="0" i="0" sz="2800" u="none" cap="none" strike="noStrike">
              <a:solidFill>
                <a:srgbClr val="E0F2F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762000" y="209550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762000" y="5905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JdeRobot | Universidad Rey Juan Carlos</a:t>
            </a:r>
            <a:endParaRPr b="1" i="0" sz="14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571500" y="28575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2"/>
          <p:cNvGrpSpPr/>
          <p:nvPr/>
        </p:nvGrpSpPr>
        <p:grpSpPr>
          <a:xfrm>
            <a:off x="571500" y="1524000"/>
            <a:ext cx="3429000" cy="1905000"/>
            <a:chOff x="571500" y="1524000"/>
            <a:chExt cx="3429000" cy="1905000"/>
          </a:xfrm>
        </p:grpSpPr>
        <p:sp>
          <p:nvSpPr>
            <p:cNvPr id="187" name="Google Shape;187;p2"/>
            <p:cNvSpPr/>
            <p:nvPr/>
          </p:nvSpPr>
          <p:spPr>
            <a:xfrm>
              <a:off x="571500" y="1524000"/>
              <a:ext cx="34290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 txBox="1"/>
            <p:nvPr/>
          </p:nvSpPr>
          <p:spPr>
            <a:xfrm>
              <a:off x="762000" y="171450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Doctorando</a:t>
              </a:r>
              <a:endParaRPr b="1" i="0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Rubén Lucas Zaragoza</a:t>
              </a:r>
              <a:endParaRPr b="1" i="0" sz="1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Dedicación: Tiempo parcial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2"/>
          <p:cNvGrpSpPr/>
          <p:nvPr/>
        </p:nvGrpSpPr>
        <p:grpSpPr>
          <a:xfrm>
            <a:off x="571500" y="3619500"/>
            <a:ext cx="3429000" cy="1333500"/>
            <a:chOff x="571500" y="3619500"/>
            <a:chExt cx="3429000" cy="1333500"/>
          </a:xfrm>
        </p:grpSpPr>
        <p:sp>
          <p:nvSpPr>
            <p:cNvPr id="190" name="Google Shape;190;p2"/>
            <p:cNvSpPr/>
            <p:nvPr/>
          </p:nvSpPr>
          <p:spPr>
            <a:xfrm>
              <a:off x="571500" y="3619500"/>
              <a:ext cx="3429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762000" y="3810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Director</a:t>
              </a:r>
              <a:endParaRPr b="1" i="0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José María Cañas Plaza</a:t>
              </a:r>
              <a:endParaRPr b="1" i="0" sz="1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2"/>
          <p:cNvGrpSpPr/>
          <p:nvPr/>
        </p:nvGrpSpPr>
        <p:grpSpPr>
          <a:xfrm>
            <a:off x="4191000" y="1524000"/>
            <a:ext cx="7429500" cy="1905000"/>
            <a:chOff x="4191000" y="1524000"/>
            <a:chExt cx="7429500" cy="1905000"/>
          </a:xfrm>
        </p:grpSpPr>
        <p:sp>
          <p:nvSpPr>
            <p:cNvPr id="193" name="Google Shape;193;p2"/>
            <p:cNvSpPr/>
            <p:nvPr/>
          </p:nvSpPr>
          <p:spPr>
            <a:xfrm>
              <a:off x="4191000" y="1524000"/>
              <a:ext cx="7429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 txBox="1"/>
            <p:nvPr/>
          </p:nvSpPr>
          <p:spPr>
            <a:xfrm>
              <a:off x="4476750" y="1762125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Título Tentativo de la Tesis</a:t>
              </a:r>
              <a:endParaRPr b="1" i="0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rgbClr val="0077C8"/>
                  </a:solidFill>
                  <a:latin typeface="Arial"/>
                  <a:ea typeface="Arial"/>
                  <a:cs typeface="Arial"/>
                  <a:sym typeface="Arial"/>
                </a:rPr>
                <a:t>"Deep reinforcement learning aplicado a conducción autónoma"</a:t>
              </a:r>
              <a:endParaRPr b="1" i="1" sz="2400" u="none" cap="none" strike="noStrike">
                <a:solidFill>
                  <a:srgbClr val="0077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2"/>
          <p:cNvGrpSpPr/>
          <p:nvPr/>
        </p:nvGrpSpPr>
        <p:grpSpPr>
          <a:xfrm>
            <a:off x="4191000" y="3619500"/>
            <a:ext cx="7429500" cy="2286000"/>
            <a:chOff x="4191000" y="3619500"/>
            <a:chExt cx="7429500" cy="2286000"/>
          </a:xfrm>
        </p:grpSpPr>
        <p:sp>
          <p:nvSpPr>
            <p:cNvPr id="196" name="Google Shape;196;p2"/>
            <p:cNvSpPr/>
            <p:nvPr/>
          </p:nvSpPr>
          <p:spPr>
            <a:xfrm>
              <a:off x="4191000" y="3619500"/>
              <a:ext cx="7429500" cy="2286000"/>
            </a:xfrm>
            <a:prstGeom prst="roundRect">
              <a:avLst>
                <a:gd fmla="val 5000" name="adj"/>
              </a:avLst>
            </a:prstGeom>
            <a:solidFill>
              <a:srgbClr val="0077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 txBox="1"/>
            <p:nvPr/>
          </p:nvSpPr>
          <p:spPr>
            <a:xfrm>
              <a:off x="4476750" y="3905250"/>
              <a:ext cx="6858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E0F2FE"/>
                  </a:solidFill>
                  <a:latin typeface="Arial"/>
                  <a:ea typeface="Arial"/>
                  <a:cs typeface="Arial"/>
                  <a:sym typeface="Arial"/>
                </a:rPr>
                <a:t>Objetivos Principales</a:t>
              </a:r>
              <a:endParaRPr b="1" i="0" sz="14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Aplicación de técnicas de </a:t>
              </a: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Deep Reinforcement Learning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para el seguimiento de carril con adaptación dinámica al tráfico.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2"/>
          <p:cNvSpPr/>
          <p:nvPr/>
        </p:nvSpPr>
        <p:spPr>
          <a:xfrm>
            <a:off x="571500" y="952500"/>
            <a:ext cx="952500" cy="381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f3d76e110_0_971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f3d76e110_0_971"/>
          <p:cNvSpPr txBox="1"/>
          <p:nvPr/>
        </p:nvSpPr>
        <p:spPr>
          <a:xfrm>
            <a:off x="571500" y="190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al comienzo del año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g3df3d76e110_0_971"/>
          <p:cNvGrpSpPr/>
          <p:nvPr/>
        </p:nvGrpSpPr>
        <p:grpSpPr>
          <a:xfrm>
            <a:off x="571500" y="1333385"/>
            <a:ext cx="2667000" cy="3869284"/>
            <a:chOff x="571500" y="1333500"/>
            <a:chExt cx="2667000" cy="4572000"/>
          </a:xfrm>
        </p:grpSpPr>
        <p:sp>
          <p:nvSpPr>
            <p:cNvPr id="206" name="Google Shape;206;g3df3d76e110_0_971"/>
            <p:cNvSpPr/>
            <p:nvPr/>
          </p:nvSpPr>
          <p:spPr>
            <a:xfrm>
              <a:off x="571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07" name="Google Shape;207;g3df3d76e110_0_971"/>
            <p:cNvSpPr txBox="1"/>
            <p:nvPr/>
          </p:nvSpPr>
          <p:spPr>
            <a:xfrm>
              <a:off x="762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Algoritmos de Control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DDPG, PPO y SAC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Velocidades altas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g3df3d76e110_0_971"/>
          <p:cNvGrpSpPr/>
          <p:nvPr/>
        </p:nvGrpSpPr>
        <p:grpSpPr>
          <a:xfrm>
            <a:off x="3429000" y="1333385"/>
            <a:ext cx="2667039" cy="3869284"/>
            <a:chOff x="3541909" y="1333500"/>
            <a:chExt cx="2599200" cy="4572000"/>
          </a:xfrm>
        </p:grpSpPr>
        <p:sp>
          <p:nvSpPr>
            <p:cNvPr id="209" name="Google Shape;209;g3df3d76e110_0_971"/>
            <p:cNvSpPr/>
            <p:nvPr/>
          </p:nvSpPr>
          <p:spPr>
            <a:xfrm>
              <a:off x="3541909" y="1333500"/>
              <a:ext cx="25992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10" name="Google Shape;210;g3df3d76e110_0_971"/>
            <p:cNvSpPr txBox="1"/>
            <p:nvPr/>
          </p:nvSpPr>
          <p:spPr>
            <a:xfrm>
              <a:off x="3727564" y="1524000"/>
              <a:ext cx="22278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Sistemas de percepción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LaneDetector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Yolop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Thresholding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g3df3d76e110_0_971"/>
          <p:cNvGrpSpPr/>
          <p:nvPr/>
        </p:nvGrpSpPr>
        <p:grpSpPr>
          <a:xfrm>
            <a:off x="6286500" y="1333385"/>
            <a:ext cx="2667000" cy="3869284"/>
            <a:chOff x="6286500" y="1333500"/>
            <a:chExt cx="2667000" cy="4572000"/>
          </a:xfrm>
        </p:grpSpPr>
        <p:sp>
          <p:nvSpPr>
            <p:cNvPr id="212" name="Google Shape;212;g3df3d76e110_0_971"/>
            <p:cNvSpPr/>
            <p:nvPr/>
          </p:nvSpPr>
          <p:spPr>
            <a:xfrm>
              <a:off x="6286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13" name="Google Shape;213;g3df3d76e110_0_971"/>
            <p:cNvSpPr txBox="1"/>
            <p:nvPr/>
          </p:nvSpPr>
          <p:spPr>
            <a:xfrm>
              <a:off x="6477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Evaluación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Entrenamiento múltiple en CARLA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Behavior Metrics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g3df3d76e110_0_971"/>
          <p:cNvGrpSpPr/>
          <p:nvPr/>
        </p:nvGrpSpPr>
        <p:grpSpPr>
          <a:xfrm>
            <a:off x="9144000" y="1333385"/>
            <a:ext cx="2667000" cy="3869284"/>
            <a:chOff x="9144000" y="1333500"/>
            <a:chExt cx="2667000" cy="4572000"/>
          </a:xfrm>
        </p:grpSpPr>
        <p:sp>
          <p:nvSpPr>
            <p:cNvPr id="215" name="Google Shape;215;g3df3d76e110_0_971"/>
            <p:cNvSpPr/>
            <p:nvPr/>
          </p:nvSpPr>
          <p:spPr>
            <a:xfrm>
              <a:off x="91440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16" name="Google Shape;216;g3df3d76e110_0_971"/>
            <p:cNvSpPr txBox="1"/>
            <p:nvPr/>
          </p:nvSpPr>
          <p:spPr>
            <a:xfrm>
              <a:off x="93345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Tarea a resolver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Seguimiento de carril a velocidades altas.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f3d76e110_0_1099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df3d76e110_0_1099"/>
          <p:cNvSpPr txBox="1"/>
          <p:nvPr/>
        </p:nvSpPr>
        <p:spPr>
          <a:xfrm>
            <a:off x="571500" y="190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al comienzo del año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g3df3d76e110_0_1099"/>
          <p:cNvGrpSpPr/>
          <p:nvPr/>
        </p:nvGrpSpPr>
        <p:grpSpPr>
          <a:xfrm>
            <a:off x="571500" y="1333385"/>
            <a:ext cx="2667000" cy="3869284"/>
            <a:chOff x="571500" y="1333500"/>
            <a:chExt cx="2667000" cy="4572000"/>
          </a:xfrm>
        </p:grpSpPr>
        <p:sp>
          <p:nvSpPr>
            <p:cNvPr id="224" name="Google Shape;224;g3df3d76e110_0_1099"/>
            <p:cNvSpPr/>
            <p:nvPr/>
          </p:nvSpPr>
          <p:spPr>
            <a:xfrm>
              <a:off x="571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5" name="Google Shape;225;g3df3d76e110_0_1099"/>
            <p:cNvSpPr txBox="1"/>
            <p:nvPr/>
          </p:nvSpPr>
          <p:spPr>
            <a:xfrm>
              <a:off x="762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Algoritmos de Control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DDPG, PPO y SAC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Velocidades altas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" name="Google Shape;226;g3df3d76e110_0_1099"/>
            <p:cNvGrpSpPr/>
            <p:nvPr/>
          </p:nvGrpSpPr>
          <p:grpSpPr>
            <a:xfrm>
              <a:off x="762000" y="4000500"/>
              <a:ext cx="2286000" cy="1714500"/>
              <a:chOff x="762000" y="4000500"/>
              <a:chExt cx="2286000" cy="1714500"/>
            </a:xfrm>
          </p:grpSpPr>
          <p:sp>
            <p:nvSpPr>
              <p:cNvPr id="227" name="Google Shape;227;g3df3d76e110_0_1099"/>
              <p:cNvSpPr/>
              <p:nvPr/>
            </p:nvSpPr>
            <p:spPr>
              <a:xfrm>
                <a:off x="762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28" name="Google Shape;228;g3df3d76e110_0_1099"/>
              <p:cNvSpPr txBox="1"/>
              <p:nvPr/>
            </p:nvSpPr>
            <p:spPr>
              <a:xfrm>
                <a:off x="857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Inclusión de TD3 en la comparativa de toma de decisiones.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9" name="Google Shape;229;g3df3d76e110_0_1099"/>
          <p:cNvGrpSpPr/>
          <p:nvPr/>
        </p:nvGrpSpPr>
        <p:grpSpPr>
          <a:xfrm>
            <a:off x="3429000" y="1333385"/>
            <a:ext cx="2667039" cy="3869284"/>
            <a:chOff x="3541909" y="1333500"/>
            <a:chExt cx="2599200" cy="4572000"/>
          </a:xfrm>
        </p:grpSpPr>
        <p:sp>
          <p:nvSpPr>
            <p:cNvPr id="230" name="Google Shape;230;g3df3d76e110_0_1099"/>
            <p:cNvSpPr/>
            <p:nvPr/>
          </p:nvSpPr>
          <p:spPr>
            <a:xfrm>
              <a:off x="3541909" y="1333500"/>
              <a:ext cx="25992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1" name="Google Shape;231;g3df3d76e110_0_1099"/>
            <p:cNvSpPr txBox="1"/>
            <p:nvPr/>
          </p:nvSpPr>
          <p:spPr>
            <a:xfrm>
              <a:off x="3727564" y="1524000"/>
              <a:ext cx="22278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Sistemas de percepción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LaneDetector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Yolop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Thresholding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g3df3d76e110_0_1099"/>
          <p:cNvGrpSpPr/>
          <p:nvPr/>
        </p:nvGrpSpPr>
        <p:grpSpPr>
          <a:xfrm>
            <a:off x="6286500" y="1333385"/>
            <a:ext cx="2667000" cy="3869284"/>
            <a:chOff x="6286500" y="1333500"/>
            <a:chExt cx="2667000" cy="4572000"/>
          </a:xfrm>
        </p:grpSpPr>
        <p:sp>
          <p:nvSpPr>
            <p:cNvPr id="233" name="Google Shape;233;g3df3d76e110_0_1099"/>
            <p:cNvSpPr/>
            <p:nvPr/>
          </p:nvSpPr>
          <p:spPr>
            <a:xfrm>
              <a:off x="6286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4" name="Google Shape;234;g3df3d76e110_0_1099"/>
            <p:cNvSpPr txBox="1"/>
            <p:nvPr/>
          </p:nvSpPr>
          <p:spPr>
            <a:xfrm>
              <a:off x="6477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Evaluación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Entrenamiento múltiple en CARLA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Behavior Metrics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g3df3d76e110_0_1099"/>
          <p:cNvGrpSpPr/>
          <p:nvPr/>
        </p:nvGrpSpPr>
        <p:grpSpPr>
          <a:xfrm>
            <a:off x="9144000" y="1333385"/>
            <a:ext cx="2667000" cy="3869284"/>
            <a:chOff x="9144000" y="1333500"/>
            <a:chExt cx="2667000" cy="4572000"/>
          </a:xfrm>
        </p:grpSpPr>
        <p:sp>
          <p:nvSpPr>
            <p:cNvPr id="236" name="Google Shape;236;g3df3d76e110_0_1099"/>
            <p:cNvSpPr/>
            <p:nvPr/>
          </p:nvSpPr>
          <p:spPr>
            <a:xfrm>
              <a:off x="91440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7" name="Google Shape;237;g3df3d76e110_0_1099"/>
            <p:cNvSpPr txBox="1"/>
            <p:nvPr/>
          </p:nvSpPr>
          <p:spPr>
            <a:xfrm>
              <a:off x="93345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Tarea a resolver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Seguimiento de carril a velocidades altas.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f3d76e110_0_1186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f3d76e110_0_1186"/>
          <p:cNvSpPr txBox="1"/>
          <p:nvPr/>
        </p:nvSpPr>
        <p:spPr>
          <a:xfrm>
            <a:off x="571500" y="190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al comienzo del año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3df3d76e110_0_1186"/>
          <p:cNvGrpSpPr/>
          <p:nvPr/>
        </p:nvGrpSpPr>
        <p:grpSpPr>
          <a:xfrm>
            <a:off x="571500" y="1333385"/>
            <a:ext cx="2667000" cy="3869284"/>
            <a:chOff x="571500" y="1333500"/>
            <a:chExt cx="2667000" cy="4572000"/>
          </a:xfrm>
        </p:grpSpPr>
        <p:sp>
          <p:nvSpPr>
            <p:cNvPr id="245" name="Google Shape;245;g3df3d76e110_0_1186"/>
            <p:cNvSpPr/>
            <p:nvPr/>
          </p:nvSpPr>
          <p:spPr>
            <a:xfrm>
              <a:off x="571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46" name="Google Shape;246;g3df3d76e110_0_1186"/>
            <p:cNvSpPr txBox="1"/>
            <p:nvPr/>
          </p:nvSpPr>
          <p:spPr>
            <a:xfrm>
              <a:off x="762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Algoritmos de Control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DDPG, PPO y SAC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Velocidades altas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g3df3d76e110_0_1186"/>
            <p:cNvGrpSpPr/>
            <p:nvPr/>
          </p:nvGrpSpPr>
          <p:grpSpPr>
            <a:xfrm>
              <a:off x="762000" y="4000500"/>
              <a:ext cx="2286000" cy="1714500"/>
              <a:chOff x="762000" y="4000500"/>
              <a:chExt cx="2286000" cy="1714500"/>
            </a:xfrm>
          </p:grpSpPr>
          <p:sp>
            <p:nvSpPr>
              <p:cNvPr id="248" name="Google Shape;248;g3df3d76e110_0_1186"/>
              <p:cNvSpPr/>
              <p:nvPr/>
            </p:nvSpPr>
            <p:spPr>
              <a:xfrm>
                <a:off x="762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49" name="Google Shape;249;g3df3d76e110_0_1186"/>
              <p:cNvSpPr txBox="1"/>
              <p:nvPr/>
            </p:nvSpPr>
            <p:spPr>
              <a:xfrm>
                <a:off x="857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Inclusión de TD3 en la comparativa de toma de decisiones.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0" name="Google Shape;250;g3df3d76e110_0_1186"/>
          <p:cNvGrpSpPr/>
          <p:nvPr/>
        </p:nvGrpSpPr>
        <p:grpSpPr>
          <a:xfrm>
            <a:off x="3429000" y="1333385"/>
            <a:ext cx="2667039" cy="3869284"/>
            <a:chOff x="3541909" y="1333500"/>
            <a:chExt cx="2599200" cy="4572000"/>
          </a:xfrm>
        </p:grpSpPr>
        <p:sp>
          <p:nvSpPr>
            <p:cNvPr id="251" name="Google Shape;251;g3df3d76e110_0_1186"/>
            <p:cNvSpPr/>
            <p:nvPr/>
          </p:nvSpPr>
          <p:spPr>
            <a:xfrm>
              <a:off x="3541909" y="1333500"/>
              <a:ext cx="25992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52" name="Google Shape;252;g3df3d76e110_0_1186"/>
            <p:cNvSpPr txBox="1"/>
            <p:nvPr/>
          </p:nvSpPr>
          <p:spPr>
            <a:xfrm>
              <a:off x="3727564" y="1524000"/>
              <a:ext cx="22278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Sistemas de percepción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LaneDetector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Yolop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Thresholding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" name="Google Shape;253;g3df3d76e110_0_1186"/>
            <p:cNvGrpSpPr/>
            <p:nvPr/>
          </p:nvGrpSpPr>
          <p:grpSpPr>
            <a:xfrm>
              <a:off x="3619500" y="4000500"/>
              <a:ext cx="2286000" cy="1714500"/>
              <a:chOff x="3619500" y="4000500"/>
              <a:chExt cx="2286000" cy="1714500"/>
            </a:xfrm>
          </p:grpSpPr>
          <p:sp>
            <p:nvSpPr>
              <p:cNvPr id="254" name="Google Shape;254;g3df3d76e110_0_1186"/>
              <p:cNvSpPr/>
              <p:nvPr/>
            </p:nvSpPr>
            <p:spPr>
              <a:xfrm>
                <a:off x="36195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55" name="Google Shape;255;g3df3d76e110_0_1186"/>
              <p:cNvSpPr txBox="1"/>
              <p:nvPr/>
            </p:nvSpPr>
            <p:spPr>
              <a:xfrm>
                <a:off x="37147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Integración de YOLOPV2 en entrenamiento y evaluación.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6" name="Google Shape;256;g3df3d76e110_0_1186"/>
          <p:cNvGrpSpPr/>
          <p:nvPr/>
        </p:nvGrpSpPr>
        <p:grpSpPr>
          <a:xfrm>
            <a:off x="6286500" y="1333385"/>
            <a:ext cx="2667000" cy="3869284"/>
            <a:chOff x="6286500" y="1333500"/>
            <a:chExt cx="2667000" cy="4572000"/>
          </a:xfrm>
        </p:grpSpPr>
        <p:sp>
          <p:nvSpPr>
            <p:cNvPr id="257" name="Google Shape;257;g3df3d76e110_0_1186"/>
            <p:cNvSpPr/>
            <p:nvPr/>
          </p:nvSpPr>
          <p:spPr>
            <a:xfrm>
              <a:off x="6286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58" name="Google Shape;258;g3df3d76e110_0_1186"/>
            <p:cNvSpPr txBox="1"/>
            <p:nvPr/>
          </p:nvSpPr>
          <p:spPr>
            <a:xfrm>
              <a:off x="6477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Evaluación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Entrenamiento múltiple en CARLA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Behavior Metrics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g3df3d76e110_0_1186"/>
          <p:cNvGrpSpPr/>
          <p:nvPr/>
        </p:nvGrpSpPr>
        <p:grpSpPr>
          <a:xfrm>
            <a:off x="9144000" y="1333385"/>
            <a:ext cx="2667000" cy="3869284"/>
            <a:chOff x="9144000" y="1333500"/>
            <a:chExt cx="2667000" cy="4572000"/>
          </a:xfrm>
        </p:grpSpPr>
        <p:sp>
          <p:nvSpPr>
            <p:cNvPr id="260" name="Google Shape;260;g3df3d76e110_0_1186"/>
            <p:cNvSpPr/>
            <p:nvPr/>
          </p:nvSpPr>
          <p:spPr>
            <a:xfrm>
              <a:off x="91440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61" name="Google Shape;261;g3df3d76e110_0_1186"/>
            <p:cNvSpPr txBox="1"/>
            <p:nvPr/>
          </p:nvSpPr>
          <p:spPr>
            <a:xfrm>
              <a:off x="93345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Tarea a resolver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Seguimiento de carril a velocidades altas.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f3d76e110_0_116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df3d76e110_0_1160"/>
          <p:cNvSpPr txBox="1"/>
          <p:nvPr/>
        </p:nvSpPr>
        <p:spPr>
          <a:xfrm>
            <a:off x="571500" y="190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al comienzo del año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g3df3d76e110_0_1160"/>
          <p:cNvGrpSpPr/>
          <p:nvPr/>
        </p:nvGrpSpPr>
        <p:grpSpPr>
          <a:xfrm>
            <a:off x="571500" y="1333385"/>
            <a:ext cx="2667000" cy="3869284"/>
            <a:chOff x="571500" y="1333500"/>
            <a:chExt cx="2667000" cy="4572000"/>
          </a:xfrm>
        </p:grpSpPr>
        <p:sp>
          <p:nvSpPr>
            <p:cNvPr id="269" name="Google Shape;269;g3df3d76e110_0_1160"/>
            <p:cNvSpPr/>
            <p:nvPr/>
          </p:nvSpPr>
          <p:spPr>
            <a:xfrm>
              <a:off x="571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70" name="Google Shape;270;g3df3d76e110_0_1160"/>
            <p:cNvSpPr txBox="1"/>
            <p:nvPr/>
          </p:nvSpPr>
          <p:spPr>
            <a:xfrm>
              <a:off x="762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Algoritmos de Control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DDPG, PPO y SAC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Velocidades altas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g3df3d76e110_0_1160"/>
            <p:cNvGrpSpPr/>
            <p:nvPr/>
          </p:nvGrpSpPr>
          <p:grpSpPr>
            <a:xfrm>
              <a:off x="762000" y="4000500"/>
              <a:ext cx="2286000" cy="1714500"/>
              <a:chOff x="762000" y="4000500"/>
              <a:chExt cx="2286000" cy="1714500"/>
            </a:xfrm>
          </p:grpSpPr>
          <p:sp>
            <p:nvSpPr>
              <p:cNvPr id="272" name="Google Shape;272;g3df3d76e110_0_1160"/>
              <p:cNvSpPr/>
              <p:nvPr/>
            </p:nvSpPr>
            <p:spPr>
              <a:xfrm>
                <a:off x="762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73" name="Google Shape;273;g3df3d76e110_0_1160"/>
              <p:cNvSpPr txBox="1"/>
              <p:nvPr/>
            </p:nvSpPr>
            <p:spPr>
              <a:xfrm>
                <a:off x="857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Inclusión de TD3 en la comparativa de toma de decisiones.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4" name="Google Shape;274;g3df3d76e110_0_1160"/>
          <p:cNvGrpSpPr/>
          <p:nvPr/>
        </p:nvGrpSpPr>
        <p:grpSpPr>
          <a:xfrm>
            <a:off x="3429000" y="1333385"/>
            <a:ext cx="2667039" cy="3869284"/>
            <a:chOff x="3541909" y="1333500"/>
            <a:chExt cx="2599200" cy="4572000"/>
          </a:xfrm>
        </p:grpSpPr>
        <p:sp>
          <p:nvSpPr>
            <p:cNvPr id="275" name="Google Shape;275;g3df3d76e110_0_1160"/>
            <p:cNvSpPr/>
            <p:nvPr/>
          </p:nvSpPr>
          <p:spPr>
            <a:xfrm>
              <a:off x="3541909" y="1333500"/>
              <a:ext cx="25992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76" name="Google Shape;276;g3df3d76e110_0_1160"/>
            <p:cNvSpPr txBox="1"/>
            <p:nvPr/>
          </p:nvSpPr>
          <p:spPr>
            <a:xfrm>
              <a:off x="3727564" y="1524000"/>
              <a:ext cx="22278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Sistemas de percepción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LaneDetector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Yolop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Thresholding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g3df3d76e110_0_1160"/>
            <p:cNvGrpSpPr/>
            <p:nvPr/>
          </p:nvGrpSpPr>
          <p:grpSpPr>
            <a:xfrm>
              <a:off x="3619500" y="4000500"/>
              <a:ext cx="2286000" cy="1714500"/>
              <a:chOff x="3619500" y="4000500"/>
              <a:chExt cx="2286000" cy="1714500"/>
            </a:xfrm>
          </p:grpSpPr>
          <p:sp>
            <p:nvSpPr>
              <p:cNvPr id="278" name="Google Shape;278;g3df3d76e110_0_1160"/>
              <p:cNvSpPr/>
              <p:nvPr/>
            </p:nvSpPr>
            <p:spPr>
              <a:xfrm>
                <a:off x="36195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79" name="Google Shape;279;g3df3d76e110_0_1160"/>
              <p:cNvSpPr txBox="1"/>
              <p:nvPr/>
            </p:nvSpPr>
            <p:spPr>
              <a:xfrm>
                <a:off x="37147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Integración de YOLOPV2 en entrenamiento y evaluación.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0" name="Google Shape;280;g3df3d76e110_0_1160"/>
          <p:cNvGrpSpPr/>
          <p:nvPr/>
        </p:nvGrpSpPr>
        <p:grpSpPr>
          <a:xfrm>
            <a:off x="6286500" y="1333385"/>
            <a:ext cx="2667000" cy="3869284"/>
            <a:chOff x="6286500" y="1333500"/>
            <a:chExt cx="2667000" cy="4572000"/>
          </a:xfrm>
        </p:grpSpPr>
        <p:sp>
          <p:nvSpPr>
            <p:cNvPr id="281" name="Google Shape;281;g3df3d76e110_0_1160"/>
            <p:cNvSpPr/>
            <p:nvPr/>
          </p:nvSpPr>
          <p:spPr>
            <a:xfrm>
              <a:off x="6286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82" name="Google Shape;282;g3df3d76e110_0_1160"/>
            <p:cNvSpPr txBox="1"/>
            <p:nvPr/>
          </p:nvSpPr>
          <p:spPr>
            <a:xfrm>
              <a:off x="6477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Evaluación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Entrenamiento múltiple en CARLA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Behavior Metrics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3" name="Google Shape;283;g3df3d76e110_0_1160"/>
            <p:cNvGrpSpPr/>
            <p:nvPr/>
          </p:nvGrpSpPr>
          <p:grpSpPr>
            <a:xfrm>
              <a:off x="6477000" y="4000500"/>
              <a:ext cx="2286000" cy="1714500"/>
              <a:chOff x="6477000" y="4000500"/>
              <a:chExt cx="2286000" cy="1714500"/>
            </a:xfrm>
          </p:grpSpPr>
          <p:sp>
            <p:nvSpPr>
              <p:cNvPr id="284" name="Google Shape;284;g3df3d76e110_0_1160"/>
              <p:cNvSpPr/>
              <p:nvPr/>
            </p:nvSpPr>
            <p:spPr>
              <a:xfrm>
                <a:off x="6477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85" name="Google Shape;285;g3df3d76e110_0_1160"/>
              <p:cNvSpPr txBox="1"/>
              <p:nvPr/>
            </p:nvSpPr>
            <p:spPr>
              <a:xfrm>
                <a:off x="6572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Análisis avanzado con procesado estadístico y diversidad de escenarios.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6" name="Google Shape;286;g3df3d76e110_0_1160"/>
          <p:cNvGrpSpPr/>
          <p:nvPr/>
        </p:nvGrpSpPr>
        <p:grpSpPr>
          <a:xfrm>
            <a:off x="9144000" y="1333385"/>
            <a:ext cx="2667000" cy="3869284"/>
            <a:chOff x="9144000" y="1333500"/>
            <a:chExt cx="2667000" cy="4572000"/>
          </a:xfrm>
        </p:grpSpPr>
        <p:sp>
          <p:nvSpPr>
            <p:cNvPr id="287" name="Google Shape;287;g3df3d76e110_0_1160"/>
            <p:cNvSpPr/>
            <p:nvPr/>
          </p:nvSpPr>
          <p:spPr>
            <a:xfrm>
              <a:off x="91440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88" name="Google Shape;288;g3df3d76e110_0_1160"/>
            <p:cNvSpPr txBox="1"/>
            <p:nvPr/>
          </p:nvSpPr>
          <p:spPr>
            <a:xfrm>
              <a:off x="93345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Tarea a resolver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Seguimiento de carril a velocidades altas.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b38136098_0_1799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db38136098_0_1799"/>
          <p:cNvSpPr txBox="1"/>
          <p:nvPr/>
        </p:nvSpPr>
        <p:spPr>
          <a:xfrm>
            <a:off x="609600" y="190500"/>
            <a:ext cx="1097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Actividades realizadas en el curso 2025-2026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3db38136098_0_17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48160"/>
            <a:ext cx="11887201" cy="4277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b38136098_0_182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db38136098_0_1825"/>
          <p:cNvSpPr txBox="1"/>
          <p:nvPr/>
        </p:nvSpPr>
        <p:spPr>
          <a:xfrm>
            <a:off x="609600" y="190500"/>
            <a:ext cx="1097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Actividades realizadas en el curso 2025-2026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g3db38136098_0_18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0" y="1367265"/>
            <a:ext cx="11887201" cy="4277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b38136098_0_183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b38136098_0_1830"/>
          <p:cNvSpPr txBox="1"/>
          <p:nvPr/>
        </p:nvSpPr>
        <p:spPr>
          <a:xfrm>
            <a:off x="609600" y="190500"/>
            <a:ext cx="1097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Actividades realizadas en el curso 2025-2026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db38136098_0_18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00" y="1261585"/>
            <a:ext cx="11887201" cy="5094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f3d76e110_0_1131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df3d76e110_0_1131"/>
          <p:cNvSpPr txBox="1"/>
          <p:nvPr/>
        </p:nvSpPr>
        <p:spPr>
          <a:xfrm>
            <a:off x="571500" y="190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al comienzo del año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g3df3d76e110_0_1131"/>
          <p:cNvGrpSpPr/>
          <p:nvPr/>
        </p:nvGrpSpPr>
        <p:grpSpPr>
          <a:xfrm>
            <a:off x="571500" y="1333385"/>
            <a:ext cx="2667000" cy="3869284"/>
            <a:chOff x="571500" y="1333500"/>
            <a:chExt cx="2667000" cy="4572000"/>
          </a:xfrm>
        </p:grpSpPr>
        <p:sp>
          <p:nvSpPr>
            <p:cNvPr id="317" name="Google Shape;317;g3df3d76e110_0_1131"/>
            <p:cNvSpPr/>
            <p:nvPr/>
          </p:nvSpPr>
          <p:spPr>
            <a:xfrm>
              <a:off x="571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18" name="Google Shape;318;g3df3d76e110_0_1131"/>
            <p:cNvSpPr txBox="1"/>
            <p:nvPr/>
          </p:nvSpPr>
          <p:spPr>
            <a:xfrm>
              <a:off x="762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Algoritmos de Control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DDPG, PPO y SAC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Velocidades altas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9" name="Google Shape;319;g3df3d76e110_0_1131"/>
            <p:cNvGrpSpPr/>
            <p:nvPr/>
          </p:nvGrpSpPr>
          <p:grpSpPr>
            <a:xfrm>
              <a:off x="762000" y="4000500"/>
              <a:ext cx="2286000" cy="1714500"/>
              <a:chOff x="762000" y="4000500"/>
              <a:chExt cx="2286000" cy="1714500"/>
            </a:xfrm>
          </p:grpSpPr>
          <p:sp>
            <p:nvSpPr>
              <p:cNvPr id="320" name="Google Shape;320;g3df3d76e110_0_1131"/>
              <p:cNvSpPr/>
              <p:nvPr/>
            </p:nvSpPr>
            <p:spPr>
              <a:xfrm>
                <a:off x="762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21" name="Google Shape;321;g3df3d76e110_0_1131"/>
              <p:cNvSpPr txBox="1"/>
              <p:nvPr/>
            </p:nvSpPr>
            <p:spPr>
              <a:xfrm>
                <a:off x="857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Inclusión de TD3 en la comparativa de toma de decisiones.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2" name="Google Shape;322;g3df3d76e110_0_1131"/>
          <p:cNvGrpSpPr/>
          <p:nvPr/>
        </p:nvGrpSpPr>
        <p:grpSpPr>
          <a:xfrm>
            <a:off x="3429000" y="1333385"/>
            <a:ext cx="2667039" cy="3869284"/>
            <a:chOff x="3541909" y="1333500"/>
            <a:chExt cx="2599200" cy="4572000"/>
          </a:xfrm>
        </p:grpSpPr>
        <p:sp>
          <p:nvSpPr>
            <p:cNvPr id="323" name="Google Shape;323;g3df3d76e110_0_1131"/>
            <p:cNvSpPr/>
            <p:nvPr/>
          </p:nvSpPr>
          <p:spPr>
            <a:xfrm>
              <a:off x="3541909" y="1333500"/>
              <a:ext cx="25992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24" name="Google Shape;324;g3df3d76e110_0_1131"/>
            <p:cNvSpPr txBox="1"/>
            <p:nvPr/>
          </p:nvSpPr>
          <p:spPr>
            <a:xfrm>
              <a:off x="3727564" y="1524000"/>
              <a:ext cx="22278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Sistemas de percepción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LaneDetector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Yolop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Thresholding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5" name="Google Shape;325;g3df3d76e110_0_1131"/>
            <p:cNvGrpSpPr/>
            <p:nvPr/>
          </p:nvGrpSpPr>
          <p:grpSpPr>
            <a:xfrm>
              <a:off x="3619500" y="4000500"/>
              <a:ext cx="2286000" cy="1714500"/>
              <a:chOff x="3619500" y="4000500"/>
              <a:chExt cx="2286000" cy="1714500"/>
            </a:xfrm>
          </p:grpSpPr>
          <p:sp>
            <p:nvSpPr>
              <p:cNvPr id="326" name="Google Shape;326;g3df3d76e110_0_1131"/>
              <p:cNvSpPr/>
              <p:nvPr/>
            </p:nvSpPr>
            <p:spPr>
              <a:xfrm>
                <a:off x="36195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27" name="Google Shape;327;g3df3d76e110_0_1131"/>
              <p:cNvSpPr txBox="1"/>
              <p:nvPr/>
            </p:nvSpPr>
            <p:spPr>
              <a:xfrm>
                <a:off x="37147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Integración de YOLOPV2 en entrenamiento y evaluación.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8" name="Google Shape;328;g3df3d76e110_0_1131"/>
          <p:cNvGrpSpPr/>
          <p:nvPr/>
        </p:nvGrpSpPr>
        <p:grpSpPr>
          <a:xfrm>
            <a:off x="6286500" y="1333385"/>
            <a:ext cx="2667000" cy="3869284"/>
            <a:chOff x="6286500" y="1333500"/>
            <a:chExt cx="2667000" cy="4572000"/>
          </a:xfrm>
        </p:grpSpPr>
        <p:sp>
          <p:nvSpPr>
            <p:cNvPr id="329" name="Google Shape;329;g3df3d76e110_0_1131"/>
            <p:cNvSpPr/>
            <p:nvPr/>
          </p:nvSpPr>
          <p:spPr>
            <a:xfrm>
              <a:off x="6286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30" name="Google Shape;330;g3df3d76e110_0_1131"/>
            <p:cNvSpPr txBox="1"/>
            <p:nvPr/>
          </p:nvSpPr>
          <p:spPr>
            <a:xfrm>
              <a:off x="6477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Evaluación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Entrenamiento múltiple en CARLA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Behavior Metrics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g3df3d76e110_0_1131"/>
            <p:cNvGrpSpPr/>
            <p:nvPr/>
          </p:nvGrpSpPr>
          <p:grpSpPr>
            <a:xfrm>
              <a:off x="6477000" y="4000500"/>
              <a:ext cx="2286000" cy="1714500"/>
              <a:chOff x="6477000" y="4000500"/>
              <a:chExt cx="2286000" cy="1714500"/>
            </a:xfrm>
          </p:grpSpPr>
          <p:sp>
            <p:nvSpPr>
              <p:cNvPr id="332" name="Google Shape;332;g3df3d76e110_0_1131"/>
              <p:cNvSpPr/>
              <p:nvPr/>
            </p:nvSpPr>
            <p:spPr>
              <a:xfrm>
                <a:off x="6477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33" name="Google Shape;333;g3df3d76e110_0_1131"/>
              <p:cNvSpPr txBox="1"/>
              <p:nvPr/>
            </p:nvSpPr>
            <p:spPr>
              <a:xfrm>
                <a:off x="6572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Análisis avanzado con procesado estadístico y diversidad de escenarios.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4" name="Google Shape;334;g3df3d76e110_0_1131"/>
          <p:cNvGrpSpPr/>
          <p:nvPr/>
        </p:nvGrpSpPr>
        <p:grpSpPr>
          <a:xfrm>
            <a:off x="9144000" y="1333385"/>
            <a:ext cx="2667000" cy="3869284"/>
            <a:chOff x="9144000" y="1333500"/>
            <a:chExt cx="2667000" cy="4572000"/>
          </a:xfrm>
        </p:grpSpPr>
        <p:sp>
          <p:nvSpPr>
            <p:cNvPr id="335" name="Google Shape;335;g3df3d76e110_0_1131"/>
            <p:cNvSpPr/>
            <p:nvPr/>
          </p:nvSpPr>
          <p:spPr>
            <a:xfrm>
              <a:off x="91440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36" name="Google Shape;336;g3df3d76e110_0_1131"/>
            <p:cNvSpPr txBox="1"/>
            <p:nvPr/>
          </p:nvSpPr>
          <p:spPr>
            <a:xfrm>
              <a:off x="93345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Tarea a resolver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Seguimiento de carril a velocidades altas.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" name="Google Shape;337;g3df3d76e110_0_1131"/>
            <p:cNvGrpSpPr/>
            <p:nvPr/>
          </p:nvGrpSpPr>
          <p:grpSpPr>
            <a:xfrm>
              <a:off x="9334500" y="4000500"/>
              <a:ext cx="2286000" cy="1714500"/>
              <a:chOff x="9334500" y="4000500"/>
              <a:chExt cx="2286000" cy="1714500"/>
            </a:xfrm>
          </p:grpSpPr>
          <p:sp>
            <p:nvSpPr>
              <p:cNvPr id="338" name="Google Shape;338;g3df3d76e110_0_1131"/>
              <p:cNvSpPr/>
              <p:nvPr/>
            </p:nvSpPr>
            <p:spPr>
              <a:xfrm>
                <a:off x="93345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39" name="Google Shape;339;g3df3d76e110_0_1131"/>
              <p:cNvSpPr txBox="1"/>
              <p:nvPr/>
            </p:nvSpPr>
            <p:spPr>
              <a:xfrm>
                <a:off x="94297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Uso de control adaptativo de crucero para seguimiento de carril.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b38136098_0_1838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db38136098_0_1838"/>
          <p:cNvSpPr txBox="1"/>
          <p:nvPr/>
        </p:nvSpPr>
        <p:spPr>
          <a:xfrm>
            <a:off x="609600" y="190500"/>
            <a:ext cx="1097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Actividades realizadas en el curso 2025-2026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g3db38136098_0_1838" title="simplescreenrecorder-2026-01-13_23.12.28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3050" y="1143002"/>
            <a:ext cx="7236701" cy="57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f3d76e110_0_428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df3d76e110_0_428"/>
          <p:cNvSpPr txBox="1"/>
          <p:nvPr/>
        </p:nvSpPr>
        <p:spPr>
          <a:xfrm>
            <a:off x="571500" y="190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al comienzo del año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" name="Google Shape;353;g3df3d76e110_0_428"/>
          <p:cNvGrpSpPr/>
          <p:nvPr/>
        </p:nvGrpSpPr>
        <p:grpSpPr>
          <a:xfrm>
            <a:off x="571500" y="1333385"/>
            <a:ext cx="2667000" cy="3869284"/>
            <a:chOff x="571500" y="1333500"/>
            <a:chExt cx="2667000" cy="4572000"/>
          </a:xfrm>
        </p:grpSpPr>
        <p:sp>
          <p:nvSpPr>
            <p:cNvPr id="354" name="Google Shape;354;g3df3d76e110_0_428"/>
            <p:cNvSpPr/>
            <p:nvPr/>
          </p:nvSpPr>
          <p:spPr>
            <a:xfrm>
              <a:off x="571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55" name="Google Shape;355;g3df3d76e110_0_428"/>
            <p:cNvSpPr txBox="1"/>
            <p:nvPr/>
          </p:nvSpPr>
          <p:spPr>
            <a:xfrm>
              <a:off x="762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Algoritmos de Control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DDPG, PPO y SAC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Velocidades altas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" name="Google Shape;356;g3df3d76e110_0_428"/>
            <p:cNvGrpSpPr/>
            <p:nvPr/>
          </p:nvGrpSpPr>
          <p:grpSpPr>
            <a:xfrm>
              <a:off x="762000" y="4000500"/>
              <a:ext cx="2286000" cy="1714500"/>
              <a:chOff x="762000" y="4000500"/>
              <a:chExt cx="2286000" cy="1714500"/>
            </a:xfrm>
          </p:grpSpPr>
          <p:sp>
            <p:nvSpPr>
              <p:cNvPr id="357" name="Google Shape;357;g3df3d76e110_0_428"/>
              <p:cNvSpPr/>
              <p:nvPr/>
            </p:nvSpPr>
            <p:spPr>
              <a:xfrm>
                <a:off x="762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58" name="Google Shape;358;g3df3d76e110_0_428"/>
              <p:cNvSpPr txBox="1"/>
              <p:nvPr/>
            </p:nvSpPr>
            <p:spPr>
              <a:xfrm>
                <a:off x="857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Inclusión de TD3 en la comparativa de toma de decisiones.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9" name="Google Shape;359;g3df3d76e110_0_428"/>
          <p:cNvGrpSpPr/>
          <p:nvPr/>
        </p:nvGrpSpPr>
        <p:grpSpPr>
          <a:xfrm>
            <a:off x="3429000" y="1333385"/>
            <a:ext cx="2667039" cy="3869284"/>
            <a:chOff x="3541909" y="1333500"/>
            <a:chExt cx="2599200" cy="4572000"/>
          </a:xfrm>
        </p:grpSpPr>
        <p:sp>
          <p:nvSpPr>
            <p:cNvPr id="360" name="Google Shape;360;g3df3d76e110_0_428"/>
            <p:cNvSpPr/>
            <p:nvPr/>
          </p:nvSpPr>
          <p:spPr>
            <a:xfrm>
              <a:off x="3541909" y="1333500"/>
              <a:ext cx="25992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61" name="Google Shape;361;g3df3d76e110_0_428"/>
            <p:cNvSpPr txBox="1"/>
            <p:nvPr/>
          </p:nvSpPr>
          <p:spPr>
            <a:xfrm>
              <a:off x="3727564" y="1524000"/>
              <a:ext cx="22278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Sistemas de percepción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LaneDetector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Yolop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Thresholding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g3df3d76e110_0_428"/>
            <p:cNvGrpSpPr/>
            <p:nvPr/>
          </p:nvGrpSpPr>
          <p:grpSpPr>
            <a:xfrm>
              <a:off x="3619500" y="4000500"/>
              <a:ext cx="2286000" cy="1714500"/>
              <a:chOff x="3619500" y="4000500"/>
              <a:chExt cx="2286000" cy="1714500"/>
            </a:xfrm>
          </p:grpSpPr>
          <p:sp>
            <p:nvSpPr>
              <p:cNvPr id="363" name="Google Shape;363;g3df3d76e110_0_428"/>
              <p:cNvSpPr/>
              <p:nvPr/>
            </p:nvSpPr>
            <p:spPr>
              <a:xfrm>
                <a:off x="36195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64" name="Google Shape;364;g3df3d76e110_0_428"/>
              <p:cNvSpPr txBox="1"/>
              <p:nvPr/>
            </p:nvSpPr>
            <p:spPr>
              <a:xfrm>
                <a:off x="37147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Integración de YOLOPV2 en entrenamiento y evaluación.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5" name="Google Shape;365;g3df3d76e110_0_428"/>
          <p:cNvGrpSpPr/>
          <p:nvPr/>
        </p:nvGrpSpPr>
        <p:grpSpPr>
          <a:xfrm>
            <a:off x="6286500" y="1333385"/>
            <a:ext cx="2667000" cy="3869284"/>
            <a:chOff x="6286500" y="1333500"/>
            <a:chExt cx="2667000" cy="4572000"/>
          </a:xfrm>
        </p:grpSpPr>
        <p:sp>
          <p:nvSpPr>
            <p:cNvPr id="366" name="Google Shape;366;g3df3d76e110_0_428"/>
            <p:cNvSpPr/>
            <p:nvPr/>
          </p:nvSpPr>
          <p:spPr>
            <a:xfrm>
              <a:off x="62865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67" name="Google Shape;367;g3df3d76e110_0_428"/>
            <p:cNvSpPr txBox="1"/>
            <p:nvPr/>
          </p:nvSpPr>
          <p:spPr>
            <a:xfrm>
              <a:off x="64770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Evaluación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Entrenamiento múltiple en CARLA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B5563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Behavior Metrics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" name="Google Shape;368;g3df3d76e110_0_428"/>
            <p:cNvGrpSpPr/>
            <p:nvPr/>
          </p:nvGrpSpPr>
          <p:grpSpPr>
            <a:xfrm>
              <a:off x="6477000" y="4000500"/>
              <a:ext cx="2286000" cy="1714500"/>
              <a:chOff x="6477000" y="4000500"/>
              <a:chExt cx="2286000" cy="1714500"/>
            </a:xfrm>
          </p:grpSpPr>
          <p:sp>
            <p:nvSpPr>
              <p:cNvPr id="369" name="Google Shape;369;g3df3d76e110_0_428"/>
              <p:cNvSpPr/>
              <p:nvPr/>
            </p:nvSpPr>
            <p:spPr>
              <a:xfrm>
                <a:off x="64770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70" name="Google Shape;370;g3df3d76e110_0_428"/>
              <p:cNvSpPr txBox="1"/>
              <p:nvPr/>
            </p:nvSpPr>
            <p:spPr>
              <a:xfrm>
                <a:off x="65722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Análisis avanzado con procesado estadístico y diversidad de escenarios.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1" name="Google Shape;371;g3df3d76e110_0_428"/>
          <p:cNvGrpSpPr/>
          <p:nvPr/>
        </p:nvGrpSpPr>
        <p:grpSpPr>
          <a:xfrm>
            <a:off x="9144000" y="1333385"/>
            <a:ext cx="2667000" cy="3869284"/>
            <a:chOff x="9144000" y="1333500"/>
            <a:chExt cx="2667000" cy="4572000"/>
          </a:xfrm>
        </p:grpSpPr>
        <p:sp>
          <p:nvSpPr>
            <p:cNvPr id="372" name="Google Shape;372;g3df3d76e110_0_428"/>
            <p:cNvSpPr/>
            <p:nvPr/>
          </p:nvSpPr>
          <p:spPr>
            <a:xfrm>
              <a:off x="9144000" y="1333500"/>
              <a:ext cx="2667000" cy="45720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73" name="Google Shape;373;g3df3d76e110_0_428"/>
            <p:cNvSpPr txBox="1"/>
            <p:nvPr/>
          </p:nvSpPr>
          <p:spPr>
            <a:xfrm>
              <a:off x="9334500" y="1524000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Tarea a resolver</a:t>
              </a:r>
              <a:endParaRPr b="1" sz="24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Seguimiento de carril a velocidades altas.</a:t>
              </a:r>
              <a:endParaRPr b="0" sz="1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4" name="Google Shape;374;g3df3d76e110_0_428"/>
            <p:cNvGrpSpPr/>
            <p:nvPr/>
          </p:nvGrpSpPr>
          <p:grpSpPr>
            <a:xfrm>
              <a:off x="9334500" y="4000500"/>
              <a:ext cx="2286000" cy="1714500"/>
              <a:chOff x="9334500" y="4000500"/>
              <a:chExt cx="2286000" cy="1714500"/>
            </a:xfrm>
          </p:grpSpPr>
          <p:sp>
            <p:nvSpPr>
              <p:cNvPr id="375" name="Google Shape;375;g3df3d76e110_0_428"/>
              <p:cNvSpPr/>
              <p:nvPr/>
            </p:nvSpPr>
            <p:spPr>
              <a:xfrm>
                <a:off x="9334500" y="4000500"/>
                <a:ext cx="2286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DCFCE7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76" name="Google Shape;376;g3df3d76e110_0_428"/>
              <p:cNvSpPr txBox="1"/>
              <p:nvPr/>
            </p:nvSpPr>
            <p:spPr>
              <a:xfrm>
                <a:off x="9429750" y="4095750"/>
                <a:ext cx="2095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Uso de control adaptativo de crucero para seguimiento de carril.</a:t>
                </a:r>
                <a:endParaRPr b="0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7" name="Google Shape;377;g3df3d76e110_0_428"/>
          <p:cNvGrpSpPr/>
          <p:nvPr/>
        </p:nvGrpSpPr>
        <p:grpSpPr>
          <a:xfrm>
            <a:off x="571500" y="5524500"/>
            <a:ext cx="11049000" cy="762000"/>
            <a:chOff x="571500" y="5524500"/>
            <a:chExt cx="11049000" cy="762000"/>
          </a:xfrm>
        </p:grpSpPr>
        <p:sp>
          <p:nvSpPr>
            <p:cNvPr id="378" name="Google Shape;378;g3df3d76e110_0_428"/>
            <p:cNvSpPr/>
            <p:nvPr/>
          </p:nvSpPr>
          <p:spPr>
            <a:xfrm>
              <a:off x="571500" y="5524500"/>
              <a:ext cx="11049000" cy="762000"/>
            </a:xfrm>
            <a:prstGeom prst="roundRect">
              <a:avLst>
                <a:gd fmla="val 15000" name="adj"/>
              </a:avLst>
            </a:prstGeom>
            <a:solidFill>
              <a:srgbClr val="DCFCE7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79" name="Google Shape;379;g3df3d76e110_0_428"/>
            <p:cNvSpPr txBox="1"/>
            <p:nvPr/>
          </p:nvSpPr>
          <p:spPr>
            <a:xfrm>
              <a:off x="762000" y="552450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Redacción de un artículo de investigación enfocado en evaluar el equilibrio entre el rendimiento y la robustez de los agentes y el impacto en diferentes técnicas de entrenamiento.</a:t>
              </a:r>
              <a:endParaRPr b="0" sz="18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609600" y="190500"/>
            <a:ext cx="1097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Trabajos Futuros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10"/>
          <p:cNvGrpSpPr/>
          <p:nvPr/>
        </p:nvGrpSpPr>
        <p:grpSpPr>
          <a:xfrm>
            <a:off x="571500" y="1333500"/>
            <a:ext cx="3619500" cy="2190900"/>
            <a:chOff x="571500" y="1333500"/>
            <a:chExt cx="3619500" cy="2190900"/>
          </a:xfrm>
        </p:grpSpPr>
        <p:sp>
          <p:nvSpPr>
            <p:cNvPr id="387" name="Google Shape;387;p10"/>
            <p:cNvSpPr/>
            <p:nvPr/>
          </p:nvSpPr>
          <p:spPr>
            <a:xfrm>
              <a:off x="571500" y="1333500"/>
              <a:ext cx="3619500" cy="2190900"/>
            </a:xfrm>
            <a:prstGeom prst="roundRect">
              <a:avLst>
                <a:gd fmla="val 5217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10"/>
            <p:cNvSpPr txBox="1"/>
            <p:nvPr/>
          </p:nvSpPr>
          <p:spPr>
            <a:xfrm>
              <a:off x="762000" y="1524000"/>
              <a:ext cx="32385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Publicación de artículo</a:t>
              </a:r>
              <a:endParaRPr b="1" sz="20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Publicación de artículo de investigación relativo al impacto de diferentes técnicas de entrenamiento en el rendimiento del agente.</a:t>
              </a:r>
              <a:endParaRPr b="0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10"/>
          <p:cNvGrpSpPr/>
          <p:nvPr/>
        </p:nvGrpSpPr>
        <p:grpSpPr>
          <a:xfrm>
            <a:off x="4286250" y="1333500"/>
            <a:ext cx="3619500" cy="2190900"/>
            <a:chOff x="4286250" y="1333500"/>
            <a:chExt cx="3619500" cy="2190900"/>
          </a:xfrm>
        </p:grpSpPr>
        <p:sp>
          <p:nvSpPr>
            <p:cNvPr id="390" name="Google Shape;390;p10"/>
            <p:cNvSpPr/>
            <p:nvPr/>
          </p:nvSpPr>
          <p:spPr>
            <a:xfrm>
              <a:off x="4286250" y="1333500"/>
              <a:ext cx="3619500" cy="2190900"/>
            </a:xfrm>
            <a:prstGeom prst="roundRect">
              <a:avLst>
                <a:gd fmla="val 5217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0"/>
            <p:cNvSpPr txBox="1"/>
            <p:nvPr/>
          </p:nvSpPr>
          <p:spPr>
            <a:xfrm>
              <a:off x="4476750" y="1524000"/>
              <a:ext cx="32385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Integración Avanzada YOLOPV2</a:t>
              </a:r>
              <a:endParaRPr b="1" sz="20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Reentrenamiento y postprocesado para afrontar pérdida de líneas, baja iluminación y climas adversos en el simulador.</a:t>
              </a:r>
              <a:endParaRPr b="0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10"/>
          <p:cNvGrpSpPr/>
          <p:nvPr/>
        </p:nvGrpSpPr>
        <p:grpSpPr>
          <a:xfrm>
            <a:off x="8001000" y="1333500"/>
            <a:ext cx="3619500" cy="2190900"/>
            <a:chOff x="8001000" y="1333500"/>
            <a:chExt cx="3619500" cy="2190900"/>
          </a:xfrm>
        </p:grpSpPr>
        <p:sp>
          <p:nvSpPr>
            <p:cNvPr id="393" name="Google Shape;393;p10"/>
            <p:cNvSpPr/>
            <p:nvPr/>
          </p:nvSpPr>
          <p:spPr>
            <a:xfrm>
              <a:off x="8001000" y="1333500"/>
              <a:ext cx="3619500" cy="2190900"/>
            </a:xfrm>
            <a:prstGeom prst="roundRect">
              <a:avLst>
                <a:gd fmla="val 5217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10"/>
            <p:cNvSpPr txBox="1"/>
            <p:nvPr/>
          </p:nvSpPr>
          <p:spPr>
            <a:xfrm>
              <a:off x="8191500" y="1524000"/>
              <a:ext cx="32385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Optimización de Control Adaptativo</a:t>
              </a:r>
              <a:endParaRPr b="1" sz="20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Evaluación cuantitativa y procesamiento estadístico del control de crucero para su posterior mejora.</a:t>
              </a:r>
              <a:endParaRPr b="0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10"/>
          <p:cNvGrpSpPr/>
          <p:nvPr/>
        </p:nvGrpSpPr>
        <p:grpSpPr>
          <a:xfrm>
            <a:off x="2428875" y="3905250"/>
            <a:ext cx="3619500" cy="2190900"/>
            <a:chOff x="2428875" y="3905250"/>
            <a:chExt cx="3619500" cy="2190900"/>
          </a:xfrm>
        </p:grpSpPr>
        <p:sp>
          <p:nvSpPr>
            <p:cNvPr id="396" name="Google Shape;396;p10"/>
            <p:cNvSpPr/>
            <p:nvPr/>
          </p:nvSpPr>
          <p:spPr>
            <a:xfrm>
              <a:off x="2428875" y="3905250"/>
              <a:ext cx="3619500" cy="2190900"/>
            </a:xfrm>
            <a:prstGeom prst="roundRect">
              <a:avLst>
                <a:gd fmla="val 5217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10"/>
            <p:cNvSpPr txBox="1"/>
            <p:nvPr/>
          </p:nvSpPr>
          <p:spPr>
            <a:xfrm>
              <a:off x="2619375" y="4095750"/>
              <a:ext cx="32385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Desafíos del Estado del Arte</a:t>
              </a:r>
              <a:endParaRPr b="1" sz="20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Convoys, negociación de cruces, adelantamientos y sistemas multi-agente para aportar valor incremental.</a:t>
              </a:r>
              <a:endParaRPr b="0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10"/>
          <p:cNvGrpSpPr/>
          <p:nvPr/>
        </p:nvGrpSpPr>
        <p:grpSpPr>
          <a:xfrm>
            <a:off x="6143625" y="3905250"/>
            <a:ext cx="3619500" cy="2190900"/>
            <a:chOff x="6143625" y="3905250"/>
            <a:chExt cx="3619500" cy="2190900"/>
          </a:xfrm>
        </p:grpSpPr>
        <p:sp>
          <p:nvSpPr>
            <p:cNvPr id="399" name="Google Shape;399;p10"/>
            <p:cNvSpPr/>
            <p:nvPr/>
          </p:nvSpPr>
          <p:spPr>
            <a:xfrm>
              <a:off x="6143625" y="3905250"/>
              <a:ext cx="3619500" cy="2190900"/>
            </a:xfrm>
            <a:prstGeom prst="roundRect">
              <a:avLst>
                <a:gd fmla="val 5217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10"/>
            <p:cNvSpPr txBox="1"/>
            <p:nvPr/>
          </p:nvSpPr>
          <p:spPr>
            <a:xfrm>
              <a:off x="6334125" y="4095750"/>
              <a:ext cx="32385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Transferencia a Entorno Real</a:t>
              </a:r>
              <a:endParaRPr b="1" sz="2000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Experimentos de "Sim-to-Real" para evaluar la factibilidad de políticas aprendidas en robots móviles físicos.</a:t>
              </a:r>
              <a:endParaRPr b="0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2025-05-08T13:15:28Z</dcterms:created>
  <dc:creator>ruben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ICV">
    <vt:lpwstr/>
  </property>
  <property fmtid="{D5CDD505-2E9C-101B-9397-08002B2CF9AE}" pid="6" name="KSOProductBuildVer">
    <vt:lpwstr>1033-11.1.0.11664</vt:lpwstr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Notes">
    <vt:i4>0</vt:i4>
  </property>
  <property fmtid="{D5CDD505-2E9C-101B-9397-08002B2CF9AE}" pid="10" name="PresentationFormat">
    <vt:lpwstr>Widescreen</vt:lpwstr>
  </property>
  <property fmtid="{D5CDD505-2E9C-101B-9397-08002B2CF9AE}" pid="11" name="ScaleCrop">
    <vt:bool>false</vt:bool>
  </property>
  <property fmtid="{D5CDD505-2E9C-101B-9397-08002B2CF9AE}" pid="12" name="ShareDoc">
    <vt:bool>false</vt:bool>
  </property>
  <property fmtid="{D5CDD505-2E9C-101B-9397-08002B2CF9AE}" pid="13" name="Slides">
    <vt:i4>10</vt:i4>
  </property>
</Properties>
</file>
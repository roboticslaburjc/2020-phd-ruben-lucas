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  <p:sldMasterId id="214748366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2000"/>
  <p:notesSz cx="7104050" cy="102346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hO6jMqsjYAmIFuaN7Q0Pco8WyW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84225" y="767575"/>
            <a:ext cx="4736250" cy="38379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10400" y="4861425"/>
            <a:ext cx="5683225" cy="46055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1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p2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3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b38136098_0_1695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g3db38136098_0_1695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b38136098_0_1721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g3db38136098_0_1721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db38136098_0_1747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5" name="Google Shape;185;g3db38136098_0_1747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db38136098_0_1799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3" name="Google Shape;203;g3db38136098_0_1799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db38136098_0_1825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0" name="Google Shape;210;g3db38136098_0_1825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db38136098_0_1830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7" name="Google Shape;217;g3db38136098_0_1830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db38136098_0_1773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4" name="Google Shape;224;g3db38136098_0_1773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p4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db38136098_0_1838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1" name="Google Shape;271;g3db38136098_0_1838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0:notes"/>
          <p:cNvSpPr txBox="1"/>
          <p:nvPr>
            <p:ph idx="1" type="body"/>
          </p:nvPr>
        </p:nvSpPr>
        <p:spPr>
          <a:xfrm>
            <a:off x="710400" y="4861425"/>
            <a:ext cx="5683200" cy="46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8" name="Google Shape;278;p10:notes"/>
          <p:cNvSpPr/>
          <p:nvPr>
            <p:ph idx="2" type="sldImg"/>
          </p:nvPr>
        </p:nvSpPr>
        <p:spPr>
          <a:xfrm>
            <a:off x="1184225" y="767575"/>
            <a:ext cx="4736400" cy="3837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db38136098_0_777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g3db38136098_0_777"/>
          <p:cNvSpPr txBox="1"/>
          <p:nvPr>
            <p:ph idx="1" type="subTitle"/>
          </p:nvPr>
        </p:nvSpPr>
        <p:spPr>
          <a:xfrm>
            <a:off x="609480" y="1174680"/>
            <a:ext cx="109725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3db38136098_0_781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g3db38136098_0_781"/>
          <p:cNvSpPr txBox="1"/>
          <p:nvPr>
            <p:ph idx="1" type="body"/>
          </p:nvPr>
        </p:nvSpPr>
        <p:spPr>
          <a:xfrm>
            <a:off x="609480" y="1174680"/>
            <a:ext cx="109725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db38136098_0_784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g3db38136098_0_784"/>
          <p:cNvSpPr txBox="1"/>
          <p:nvPr>
            <p:ph idx="1" type="body"/>
          </p:nvPr>
        </p:nvSpPr>
        <p:spPr>
          <a:xfrm>
            <a:off x="609480" y="1174680"/>
            <a:ext cx="53544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g3db38136098_0_784"/>
          <p:cNvSpPr txBox="1"/>
          <p:nvPr>
            <p:ph idx="2" type="body"/>
          </p:nvPr>
        </p:nvSpPr>
        <p:spPr>
          <a:xfrm>
            <a:off x="6231960" y="1174680"/>
            <a:ext cx="53544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3db38136098_0_788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3db38136098_0_790"/>
          <p:cNvSpPr txBox="1"/>
          <p:nvPr>
            <p:ph idx="1" type="subTitle"/>
          </p:nvPr>
        </p:nvSpPr>
        <p:spPr>
          <a:xfrm>
            <a:off x="609480" y="190440"/>
            <a:ext cx="10972500" cy="269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db38136098_0_792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g3db38136098_0_792"/>
          <p:cNvSpPr txBox="1"/>
          <p:nvPr>
            <p:ph idx="1" type="body"/>
          </p:nvPr>
        </p:nvSpPr>
        <p:spPr>
          <a:xfrm>
            <a:off x="60948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g3db38136098_0_792"/>
          <p:cNvSpPr txBox="1"/>
          <p:nvPr>
            <p:ph idx="2" type="body"/>
          </p:nvPr>
        </p:nvSpPr>
        <p:spPr>
          <a:xfrm>
            <a:off x="6231960" y="1174680"/>
            <a:ext cx="53544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g3db38136098_0_792"/>
          <p:cNvSpPr txBox="1"/>
          <p:nvPr>
            <p:ph idx="3" type="body"/>
          </p:nvPr>
        </p:nvSpPr>
        <p:spPr>
          <a:xfrm>
            <a:off x="609480" y="376164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db38136098_0_797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g3db38136098_0_797"/>
          <p:cNvSpPr txBox="1"/>
          <p:nvPr>
            <p:ph idx="1" type="body"/>
          </p:nvPr>
        </p:nvSpPr>
        <p:spPr>
          <a:xfrm>
            <a:off x="609480" y="1174680"/>
            <a:ext cx="53544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g3db38136098_0_797"/>
          <p:cNvSpPr txBox="1"/>
          <p:nvPr>
            <p:ph idx="2" type="body"/>
          </p:nvPr>
        </p:nvSpPr>
        <p:spPr>
          <a:xfrm>
            <a:off x="623196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g3db38136098_0_797"/>
          <p:cNvSpPr txBox="1"/>
          <p:nvPr>
            <p:ph idx="3" type="body"/>
          </p:nvPr>
        </p:nvSpPr>
        <p:spPr>
          <a:xfrm>
            <a:off x="6231960" y="376164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db38136098_0_802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g3db38136098_0_802"/>
          <p:cNvSpPr txBox="1"/>
          <p:nvPr>
            <p:ph idx="1" type="body"/>
          </p:nvPr>
        </p:nvSpPr>
        <p:spPr>
          <a:xfrm>
            <a:off x="60948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g3db38136098_0_802"/>
          <p:cNvSpPr txBox="1"/>
          <p:nvPr>
            <p:ph idx="2" type="body"/>
          </p:nvPr>
        </p:nvSpPr>
        <p:spPr>
          <a:xfrm>
            <a:off x="623196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g3db38136098_0_802"/>
          <p:cNvSpPr txBox="1"/>
          <p:nvPr>
            <p:ph idx="3" type="body"/>
          </p:nvPr>
        </p:nvSpPr>
        <p:spPr>
          <a:xfrm>
            <a:off x="609480" y="3761640"/>
            <a:ext cx="109725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g3db38136098_0_807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g3db38136098_0_807"/>
          <p:cNvSpPr txBox="1"/>
          <p:nvPr>
            <p:ph idx="1" type="body"/>
          </p:nvPr>
        </p:nvSpPr>
        <p:spPr>
          <a:xfrm>
            <a:off x="609480" y="1174680"/>
            <a:ext cx="109725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g3db38136098_0_807"/>
          <p:cNvSpPr txBox="1"/>
          <p:nvPr>
            <p:ph idx="2" type="body"/>
          </p:nvPr>
        </p:nvSpPr>
        <p:spPr>
          <a:xfrm>
            <a:off x="609480" y="3761640"/>
            <a:ext cx="109725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db38136098_0_811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g3db38136098_0_811"/>
          <p:cNvSpPr txBox="1"/>
          <p:nvPr>
            <p:ph idx="1" type="body"/>
          </p:nvPr>
        </p:nvSpPr>
        <p:spPr>
          <a:xfrm>
            <a:off x="60948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g3db38136098_0_811"/>
          <p:cNvSpPr txBox="1"/>
          <p:nvPr>
            <p:ph idx="2" type="body"/>
          </p:nvPr>
        </p:nvSpPr>
        <p:spPr>
          <a:xfrm>
            <a:off x="623196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g3db38136098_0_811"/>
          <p:cNvSpPr txBox="1"/>
          <p:nvPr>
            <p:ph idx="3" type="body"/>
          </p:nvPr>
        </p:nvSpPr>
        <p:spPr>
          <a:xfrm>
            <a:off x="609480" y="376164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g3db38136098_0_811"/>
          <p:cNvSpPr txBox="1"/>
          <p:nvPr>
            <p:ph idx="4" type="body"/>
          </p:nvPr>
        </p:nvSpPr>
        <p:spPr>
          <a:xfrm>
            <a:off x="6231960" y="376164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db38136098_0_817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g3db38136098_0_817"/>
          <p:cNvSpPr txBox="1"/>
          <p:nvPr>
            <p:ph idx="1" type="body"/>
          </p:nvPr>
        </p:nvSpPr>
        <p:spPr>
          <a:xfrm>
            <a:off x="609480" y="117468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g3db38136098_0_817"/>
          <p:cNvSpPr txBox="1"/>
          <p:nvPr>
            <p:ph idx="2" type="body"/>
          </p:nvPr>
        </p:nvSpPr>
        <p:spPr>
          <a:xfrm>
            <a:off x="4319640" y="117468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g3db38136098_0_817"/>
          <p:cNvSpPr txBox="1"/>
          <p:nvPr>
            <p:ph idx="3" type="body"/>
          </p:nvPr>
        </p:nvSpPr>
        <p:spPr>
          <a:xfrm>
            <a:off x="8029800" y="117468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g3db38136098_0_817"/>
          <p:cNvSpPr txBox="1"/>
          <p:nvPr>
            <p:ph idx="4" type="body"/>
          </p:nvPr>
        </p:nvSpPr>
        <p:spPr>
          <a:xfrm>
            <a:off x="609480" y="376164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g3db38136098_0_817"/>
          <p:cNvSpPr txBox="1"/>
          <p:nvPr>
            <p:ph idx="5" type="body"/>
          </p:nvPr>
        </p:nvSpPr>
        <p:spPr>
          <a:xfrm>
            <a:off x="4319640" y="376164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g3db38136098_0_817"/>
          <p:cNvSpPr txBox="1"/>
          <p:nvPr>
            <p:ph idx="6" type="body"/>
          </p:nvPr>
        </p:nvSpPr>
        <p:spPr>
          <a:xfrm>
            <a:off x="8029800" y="376164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b38136098_0_3049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g3db38136098_0_3049"/>
          <p:cNvSpPr txBox="1"/>
          <p:nvPr>
            <p:ph idx="1" type="subTitle"/>
          </p:nvPr>
        </p:nvSpPr>
        <p:spPr>
          <a:xfrm>
            <a:off x="609480" y="1174680"/>
            <a:ext cx="109725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db38136098_0_3052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g3db38136098_0_3052"/>
          <p:cNvSpPr txBox="1"/>
          <p:nvPr>
            <p:ph idx="1" type="body"/>
          </p:nvPr>
        </p:nvSpPr>
        <p:spPr>
          <a:xfrm>
            <a:off x="609480" y="1174680"/>
            <a:ext cx="109725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b38136098_0_3055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g3db38136098_0_3055"/>
          <p:cNvSpPr txBox="1"/>
          <p:nvPr>
            <p:ph idx="1" type="body"/>
          </p:nvPr>
        </p:nvSpPr>
        <p:spPr>
          <a:xfrm>
            <a:off x="609480" y="1174680"/>
            <a:ext cx="53544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g3db38136098_0_3055"/>
          <p:cNvSpPr txBox="1"/>
          <p:nvPr>
            <p:ph idx="2" type="body"/>
          </p:nvPr>
        </p:nvSpPr>
        <p:spPr>
          <a:xfrm>
            <a:off x="6231960" y="1174680"/>
            <a:ext cx="53544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db38136098_0_3059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b38136098_0_3061"/>
          <p:cNvSpPr txBox="1"/>
          <p:nvPr>
            <p:ph idx="1" type="subTitle"/>
          </p:nvPr>
        </p:nvSpPr>
        <p:spPr>
          <a:xfrm>
            <a:off x="609480" y="190440"/>
            <a:ext cx="10972500" cy="269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38136098_0_3063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g3db38136098_0_3063"/>
          <p:cNvSpPr txBox="1"/>
          <p:nvPr>
            <p:ph idx="1" type="body"/>
          </p:nvPr>
        </p:nvSpPr>
        <p:spPr>
          <a:xfrm>
            <a:off x="60948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g3db38136098_0_3063"/>
          <p:cNvSpPr txBox="1"/>
          <p:nvPr>
            <p:ph idx="2" type="body"/>
          </p:nvPr>
        </p:nvSpPr>
        <p:spPr>
          <a:xfrm>
            <a:off x="6231960" y="1174680"/>
            <a:ext cx="53544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g3db38136098_0_3063"/>
          <p:cNvSpPr txBox="1"/>
          <p:nvPr>
            <p:ph idx="3" type="body"/>
          </p:nvPr>
        </p:nvSpPr>
        <p:spPr>
          <a:xfrm>
            <a:off x="609480" y="376164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b38136098_0_3068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g3db38136098_0_3068"/>
          <p:cNvSpPr txBox="1"/>
          <p:nvPr>
            <p:ph idx="1" type="body"/>
          </p:nvPr>
        </p:nvSpPr>
        <p:spPr>
          <a:xfrm>
            <a:off x="609480" y="1174680"/>
            <a:ext cx="53544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g3db38136098_0_3068"/>
          <p:cNvSpPr txBox="1"/>
          <p:nvPr>
            <p:ph idx="2" type="body"/>
          </p:nvPr>
        </p:nvSpPr>
        <p:spPr>
          <a:xfrm>
            <a:off x="623196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g3db38136098_0_3068"/>
          <p:cNvSpPr txBox="1"/>
          <p:nvPr>
            <p:ph idx="3" type="body"/>
          </p:nvPr>
        </p:nvSpPr>
        <p:spPr>
          <a:xfrm>
            <a:off x="6231960" y="376164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b38136098_0_3073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g3db38136098_0_3073"/>
          <p:cNvSpPr txBox="1"/>
          <p:nvPr>
            <p:ph idx="1" type="body"/>
          </p:nvPr>
        </p:nvSpPr>
        <p:spPr>
          <a:xfrm>
            <a:off x="60948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g3db38136098_0_3073"/>
          <p:cNvSpPr txBox="1"/>
          <p:nvPr>
            <p:ph idx="2" type="body"/>
          </p:nvPr>
        </p:nvSpPr>
        <p:spPr>
          <a:xfrm>
            <a:off x="623196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g3db38136098_0_3073"/>
          <p:cNvSpPr txBox="1"/>
          <p:nvPr>
            <p:ph idx="3" type="body"/>
          </p:nvPr>
        </p:nvSpPr>
        <p:spPr>
          <a:xfrm>
            <a:off x="609480" y="3761640"/>
            <a:ext cx="109725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b38136098_0_3078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g3db38136098_0_3078"/>
          <p:cNvSpPr txBox="1"/>
          <p:nvPr>
            <p:ph idx="1" type="body"/>
          </p:nvPr>
        </p:nvSpPr>
        <p:spPr>
          <a:xfrm>
            <a:off x="609480" y="1174680"/>
            <a:ext cx="109725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g3db38136098_0_3078"/>
          <p:cNvSpPr txBox="1"/>
          <p:nvPr>
            <p:ph idx="2" type="body"/>
          </p:nvPr>
        </p:nvSpPr>
        <p:spPr>
          <a:xfrm>
            <a:off x="609480" y="3761640"/>
            <a:ext cx="109725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b38136098_0_3082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g3db38136098_0_3082"/>
          <p:cNvSpPr txBox="1"/>
          <p:nvPr>
            <p:ph idx="1" type="body"/>
          </p:nvPr>
        </p:nvSpPr>
        <p:spPr>
          <a:xfrm>
            <a:off x="60948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g3db38136098_0_3082"/>
          <p:cNvSpPr txBox="1"/>
          <p:nvPr>
            <p:ph idx="2" type="body"/>
          </p:nvPr>
        </p:nvSpPr>
        <p:spPr>
          <a:xfrm>
            <a:off x="6231960" y="117468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g3db38136098_0_3082"/>
          <p:cNvSpPr txBox="1"/>
          <p:nvPr>
            <p:ph idx="3" type="body"/>
          </p:nvPr>
        </p:nvSpPr>
        <p:spPr>
          <a:xfrm>
            <a:off x="609480" y="376164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g3db38136098_0_3082"/>
          <p:cNvSpPr txBox="1"/>
          <p:nvPr>
            <p:ph idx="4" type="body"/>
          </p:nvPr>
        </p:nvSpPr>
        <p:spPr>
          <a:xfrm>
            <a:off x="6231960" y="3761640"/>
            <a:ext cx="53544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db38136098_0_3088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g3db38136098_0_3088"/>
          <p:cNvSpPr txBox="1"/>
          <p:nvPr>
            <p:ph idx="1" type="body"/>
          </p:nvPr>
        </p:nvSpPr>
        <p:spPr>
          <a:xfrm>
            <a:off x="609480" y="117468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g3db38136098_0_3088"/>
          <p:cNvSpPr txBox="1"/>
          <p:nvPr>
            <p:ph idx="2" type="body"/>
          </p:nvPr>
        </p:nvSpPr>
        <p:spPr>
          <a:xfrm>
            <a:off x="4319640" y="117468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2" name="Google Shape;112;g3db38136098_0_3088"/>
          <p:cNvSpPr txBox="1"/>
          <p:nvPr>
            <p:ph idx="3" type="body"/>
          </p:nvPr>
        </p:nvSpPr>
        <p:spPr>
          <a:xfrm>
            <a:off x="8029800" y="117468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g3db38136098_0_3088"/>
          <p:cNvSpPr txBox="1"/>
          <p:nvPr>
            <p:ph idx="4" type="body"/>
          </p:nvPr>
        </p:nvSpPr>
        <p:spPr>
          <a:xfrm>
            <a:off x="609480" y="376164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g3db38136098_0_3088"/>
          <p:cNvSpPr txBox="1"/>
          <p:nvPr>
            <p:ph idx="5" type="body"/>
          </p:nvPr>
        </p:nvSpPr>
        <p:spPr>
          <a:xfrm>
            <a:off x="4319640" y="376164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5" name="Google Shape;115;g3db38136098_0_3088"/>
          <p:cNvSpPr txBox="1"/>
          <p:nvPr>
            <p:ph idx="6" type="body"/>
          </p:nvPr>
        </p:nvSpPr>
        <p:spPr>
          <a:xfrm>
            <a:off x="8029800" y="3761640"/>
            <a:ext cx="35331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2.jpg"/><Relationship Id="rId2" Type="http://schemas.openxmlformats.org/officeDocument/2006/relationships/image" Target="../media/image1.jp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5" Type="http://schemas.openxmlformats.org/officeDocument/2006/relationships/theme" Target="../theme/theme1.xml"/><Relationship Id="rId1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" Type="http://schemas.openxmlformats.org/officeDocument/2006/relationships/image" Target="../media/image2.jpg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3db38136098_0_769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1759" cy="685763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3db38136098_0_7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19080"/>
            <a:ext cx="12206520" cy="6867001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g3db38136098_0_769"/>
          <p:cNvSpPr txBox="1"/>
          <p:nvPr>
            <p:ph type="title"/>
          </p:nvPr>
        </p:nvSpPr>
        <p:spPr>
          <a:xfrm>
            <a:off x="2063880" y="1701720"/>
            <a:ext cx="9211200" cy="108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g3db38136098_0_769"/>
          <p:cNvSpPr txBox="1"/>
          <p:nvPr>
            <p:ph idx="10" type="dt"/>
          </p:nvPr>
        </p:nvSpPr>
        <p:spPr>
          <a:xfrm>
            <a:off x="609480" y="6245280"/>
            <a:ext cx="28443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g3db38136098_0_769"/>
          <p:cNvSpPr txBox="1"/>
          <p:nvPr>
            <p:ph idx="11" type="ftr"/>
          </p:nvPr>
        </p:nvSpPr>
        <p:spPr>
          <a:xfrm>
            <a:off x="4165560" y="6245280"/>
            <a:ext cx="38604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g3db38136098_0_769"/>
          <p:cNvSpPr txBox="1"/>
          <p:nvPr>
            <p:ph idx="12" type="sldNum"/>
          </p:nvPr>
        </p:nvSpPr>
        <p:spPr>
          <a:xfrm>
            <a:off x="8737560" y="6245280"/>
            <a:ext cx="28443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g3db38136098_0_769"/>
          <p:cNvSpPr txBox="1"/>
          <p:nvPr>
            <p:ph idx="1" type="body"/>
          </p:nvPr>
        </p:nvSpPr>
        <p:spPr>
          <a:xfrm>
            <a:off x="609480" y="1604520"/>
            <a:ext cx="109725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g3db38136098_0_304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1759" cy="6857639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g3db38136098_0_3041"/>
          <p:cNvSpPr txBox="1"/>
          <p:nvPr>
            <p:ph type="title"/>
          </p:nvPr>
        </p:nvSpPr>
        <p:spPr>
          <a:xfrm>
            <a:off x="609480" y="190440"/>
            <a:ext cx="10972500" cy="58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g3db38136098_0_3041"/>
          <p:cNvSpPr txBox="1"/>
          <p:nvPr>
            <p:ph idx="1" type="body"/>
          </p:nvPr>
        </p:nvSpPr>
        <p:spPr>
          <a:xfrm>
            <a:off x="609480" y="1174680"/>
            <a:ext cx="10972500" cy="49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g3db38136098_0_3041"/>
          <p:cNvSpPr txBox="1"/>
          <p:nvPr>
            <p:ph idx="10" type="dt"/>
          </p:nvPr>
        </p:nvSpPr>
        <p:spPr>
          <a:xfrm>
            <a:off x="609480" y="6245280"/>
            <a:ext cx="28443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6" name="Google Shape;66;g3db38136098_0_3041"/>
          <p:cNvSpPr txBox="1"/>
          <p:nvPr>
            <p:ph idx="11" type="ftr"/>
          </p:nvPr>
        </p:nvSpPr>
        <p:spPr>
          <a:xfrm>
            <a:off x="4165560" y="6245280"/>
            <a:ext cx="38604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g3db38136098_0_3041"/>
          <p:cNvSpPr txBox="1"/>
          <p:nvPr>
            <p:ph idx="12" type="sldNum"/>
          </p:nvPr>
        </p:nvSpPr>
        <p:spPr>
          <a:xfrm>
            <a:off x="8737560" y="6245280"/>
            <a:ext cx="28443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hyperlink" Target="http://drive.google.com/file/d/1Ye_iHUaL_A2AnMpmteODefGLCDpC9tQq/view" TargetMode="External"/><Relationship Id="rId5" Type="http://schemas.openxmlformats.org/officeDocument/2006/relationships/image" Target="../media/image1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"/>
          <p:cNvSpPr/>
          <p:nvPr/>
        </p:nvSpPr>
        <p:spPr>
          <a:xfrm>
            <a:off x="0" y="1524000"/>
            <a:ext cx="12192000" cy="381000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1"/>
          <p:cNvSpPr txBox="1"/>
          <p:nvPr/>
        </p:nvSpPr>
        <p:spPr>
          <a:xfrm>
            <a:off x="762000" y="2286000"/>
            <a:ext cx="10668000" cy="114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Seguimiento tesis 2025/2026</a:t>
            </a:r>
            <a:endParaRPr b="1" sz="54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"/>
          <p:cNvSpPr txBox="1"/>
          <p:nvPr/>
        </p:nvSpPr>
        <p:spPr>
          <a:xfrm>
            <a:off x="762000" y="3524250"/>
            <a:ext cx="106680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800">
                <a:solidFill>
                  <a:srgbClr val="E0F2FE"/>
                </a:solidFill>
                <a:latin typeface="Arial"/>
                <a:ea typeface="Arial"/>
                <a:cs typeface="Arial"/>
                <a:sym typeface="Arial"/>
              </a:rPr>
              <a:t>Rubén Lucas Zaragoza</a:t>
            </a:r>
            <a:endParaRPr b="0" sz="2800">
              <a:solidFill>
                <a:srgbClr val="E0F2F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"/>
          <p:cNvSpPr/>
          <p:nvPr/>
        </p:nvSpPr>
        <p:spPr>
          <a:xfrm>
            <a:off x="762000" y="2095500"/>
            <a:ext cx="1143000" cy="76200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1"/>
          <p:cNvSpPr txBox="1"/>
          <p:nvPr/>
        </p:nvSpPr>
        <p:spPr>
          <a:xfrm>
            <a:off x="762000" y="59055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JdeRobot | Universidad Rey Juan Carlos</a:t>
            </a:r>
            <a:endParaRPr b="1" sz="1400">
              <a:solidFill>
                <a:srgbClr val="64748B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71500" y="28575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INTRODUCCIÓN</a:t>
            </a:r>
            <a:endParaRPr b="1" sz="36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1" name="Google Shape;131;p2"/>
          <p:cNvGrpSpPr/>
          <p:nvPr/>
        </p:nvGrpSpPr>
        <p:grpSpPr>
          <a:xfrm>
            <a:off x="571500" y="1524000"/>
            <a:ext cx="3429000" cy="1905000"/>
            <a:chOff x="571500" y="1524000"/>
            <a:chExt cx="3429000" cy="1905000"/>
          </a:xfrm>
        </p:grpSpPr>
        <p:sp>
          <p:nvSpPr>
            <p:cNvPr id="132" name="Google Shape;132;p2"/>
            <p:cNvSpPr/>
            <p:nvPr/>
          </p:nvSpPr>
          <p:spPr>
            <a:xfrm>
              <a:off x="571500" y="1524000"/>
              <a:ext cx="34290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2"/>
            <p:cNvSpPr txBox="1"/>
            <p:nvPr/>
          </p:nvSpPr>
          <p:spPr>
            <a:xfrm>
              <a:off x="762000" y="1714500"/>
              <a:ext cx="30480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Doctorando</a:t>
              </a:r>
              <a:endParaRPr b="1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Rubén Lucas Zaragoza</a:t>
              </a:r>
              <a:endParaRPr b="1" sz="18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475569"/>
                  </a:solidFill>
                  <a:latin typeface="Arial"/>
                  <a:ea typeface="Arial"/>
                  <a:cs typeface="Arial"/>
                  <a:sym typeface="Arial"/>
                </a:rPr>
                <a:t>Dedicación: Tiempo parcial</a:t>
              </a:r>
              <a:endParaRPr b="0" sz="12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4" name="Google Shape;134;p2"/>
          <p:cNvGrpSpPr/>
          <p:nvPr/>
        </p:nvGrpSpPr>
        <p:grpSpPr>
          <a:xfrm>
            <a:off x="571500" y="3619500"/>
            <a:ext cx="3429000" cy="1333500"/>
            <a:chOff x="571500" y="3619500"/>
            <a:chExt cx="3429000" cy="1333500"/>
          </a:xfrm>
        </p:grpSpPr>
        <p:sp>
          <p:nvSpPr>
            <p:cNvPr id="135" name="Google Shape;135;p2"/>
            <p:cNvSpPr/>
            <p:nvPr/>
          </p:nvSpPr>
          <p:spPr>
            <a:xfrm>
              <a:off x="571500" y="3619500"/>
              <a:ext cx="3429000" cy="1333500"/>
            </a:xfrm>
            <a:prstGeom prst="roundRect">
              <a:avLst>
                <a:gd fmla="val 8571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6" name="Google Shape;136;p2"/>
            <p:cNvSpPr txBox="1"/>
            <p:nvPr/>
          </p:nvSpPr>
          <p:spPr>
            <a:xfrm>
              <a:off x="762000" y="3810000"/>
              <a:ext cx="3048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Director</a:t>
              </a:r>
              <a:endParaRPr b="1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E293B"/>
                  </a:solidFill>
                  <a:latin typeface="Arial"/>
                  <a:ea typeface="Arial"/>
                  <a:cs typeface="Arial"/>
                  <a:sym typeface="Arial"/>
                </a:rPr>
                <a:t>José María Cañas Plaza</a:t>
              </a:r>
              <a:endParaRPr b="1" sz="18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7" name="Google Shape;137;p2"/>
          <p:cNvGrpSpPr/>
          <p:nvPr/>
        </p:nvGrpSpPr>
        <p:grpSpPr>
          <a:xfrm>
            <a:off x="4191000" y="1524000"/>
            <a:ext cx="7429500" cy="1905000"/>
            <a:chOff x="4191000" y="1524000"/>
            <a:chExt cx="7429500" cy="1905000"/>
          </a:xfrm>
        </p:grpSpPr>
        <p:sp>
          <p:nvSpPr>
            <p:cNvPr id="138" name="Google Shape;138;p2"/>
            <p:cNvSpPr/>
            <p:nvPr/>
          </p:nvSpPr>
          <p:spPr>
            <a:xfrm>
              <a:off x="4191000" y="1524000"/>
              <a:ext cx="7429500" cy="1905000"/>
            </a:xfrm>
            <a:prstGeom prst="roundRect">
              <a:avLst>
                <a:gd fmla="val 6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"/>
            <p:cNvSpPr txBox="1"/>
            <p:nvPr/>
          </p:nvSpPr>
          <p:spPr>
            <a:xfrm>
              <a:off x="4476750" y="1762125"/>
              <a:ext cx="68580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Título Tentativo de la Tesis</a:t>
              </a:r>
              <a:endParaRPr b="1" sz="14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b="1" i="1" lang="en-US" sz="2400">
                  <a:solidFill>
                    <a:srgbClr val="0077C8"/>
                  </a:solidFill>
                  <a:latin typeface="Arial"/>
                  <a:ea typeface="Arial"/>
                  <a:cs typeface="Arial"/>
                  <a:sym typeface="Arial"/>
                </a:rPr>
                <a:t>"Deep reinforcement learning aplicado a conducción autónoma"</a:t>
              </a:r>
              <a:endParaRPr b="1" i="1" sz="2400">
                <a:solidFill>
                  <a:srgbClr val="0077C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0" name="Google Shape;140;p2"/>
          <p:cNvGrpSpPr/>
          <p:nvPr/>
        </p:nvGrpSpPr>
        <p:grpSpPr>
          <a:xfrm>
            <a:off x="4191000" y="3619500"/>
            <a:ext cx="7429500" cy="2286000"/>
            <a:chOff x="4191000" y="3619500"/>
            <a:chExt cx="7429500" cy="2286000"/>
          </a:xfrm>
        </p:grpSpPr>
        <p:sp>
          <p:nvSpPr>
            <p:cNvPr id="141" name="Google Shape;141;p2"/>
            <p:cNvSpPr/>
            <p:nvPr/>
          </p:nvSpPr>
          <p:spPr>
            <a:xfrm>
              <a:off x="4191000" y="3619500"/>
              <a:ext cx="7429500" cy="2286000"/>
            </a:xfrm>
            <a:prstGeom prst="roundRect">
              <a:avLst>
                <a:gd fmla="val 5000" name="adj"/>
              </a:avLst>
            </a:prstGeom>
            <a:solidFill>
              <a:srgbClr val="0077C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"/>
            <p:cNvSpPr txBox="1"/>
            <p:nvPr/>
          </p:nvSpPr>
          <p:spPr>
            <a:xfrm>
              <a:off x="4476750" y="3905250"/>
              <a:ext cx="68580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E0F2FE"/>
                  </a:solidFill>
                  <a:latin typeface="Arial"/>
                  <a:ea typeface="Arial"/>
                  <a:cs typeface="Arial"/>
                  <a:sym typeface="Arial"/>
                </a:rPr>
                <a:t>Objetivos Principales</a:t>
              </a:r>
              <a:endParaRPr b="1" sz="1400">
                <a:solidFill>
                  <a:srgbClr val="E0F2FE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Aplicación de técnicas de </a:t>
              </a:r>
              <a:r>
                <a:rPr b="1"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Deep Reinforcement Learning</a:t>
              </a:r>
              <a:r>
                <a:rPr b="0" lang="en-US" sz="1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para el seguimiento de carril con adaptación dinámica al tráfico.</a:t>
              </a:r>
              <a:endParaRPr b="0" sz="1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43" name="Google Shape;143;p2"/>
          <p:cNvSpPr/>
          <p:nvPr/>
        </p:nvSpPr>
        <p:spPr>
          <a:xfrm>
            <a:off x="571500" y="952500"/>
            <a:ext cx="952500" cy="3810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571500" y="190500"/>
            <a:ext cx="11049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Estado al comienzo del año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0" name="Google Shape;150;p3"/>
          <p:cNvGrpSpPr/>
          <p:nvPr/>
        </p:nvGrpSpPr>
        <p:grpSpPr>
          <a:xfrm>
            <a:off x="571500" y="1333500"/>
            <a:ext cx="3524400" cy="4572000"/>
            <a:chOff x="571500" y="1333500"/>
            <a:chExt cx="3524400" cy="4572000"/>
          </a:xfrm>
        </p:grpSpPr>
        <p:sp>
          <p:nvSpPr>
            <p:cNvPr id="151" name="Google Shape;151;p3"/>
            <p:cNvSpPr/>
            <p:nvPr/>
          </p:nvSpPr>
          <p:spPr>
            <a:xfrm>
              <a:off x="571500" y="1333500"/>
              <a:ext cx="3524400" cy="4572000"/>
            </a:xfrm>
            <a:prstGeom prst="roundRect">
              <a:avLst>
                <a:gd fmla="val 324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3"/>
            <p:cNvSpPr txBox="1"/>
            <p:nvPr/>
          </p:nvSpPr>
          <p:spPr>
            <a:xfrm>
              <a:off x="762000" y="1524000"/>
              <a:ext cx="3143400" cy="419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3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Algoritmos de Control</a:t>
              </a:r>
              <a:endParaRPr b="1" sz="23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7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Comparativa de </a:t>
              </a:r>
              <a:r>
                <a:rPr b="1" lang="en-US" sz="17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algoritmos de decisión</a:t>
              </a:r>
              <a:r>
                <a:rPr b="1" lang="en-US" sz="17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:</a:t>
              </a:r>
              <a:endParaRPr b="1" sz="17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17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2385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4B5563"/>
                </a:buClr>
                <a:buSzPts val="1500"/>
                <a:buFont typeface="Arial"/>
                <a:buChar char="●"/>
              </a:pPr>
              <a:r>
                <a:rPr b="0" lang="en-US" sz="15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DDPG, PPO y SAC</a:t>
              </a:r>
              <a:endParaRPr b="0" sz="15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238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B5563"/>
                </a:buClr>
                <a:buSzPts val="1500"/>
                <a:buFont typeface="Arial"/>
                <a:buChar char="●"/>
              </a:pPr>
              <a:r>
                <a:rPr b="0" lang="en-US" sz="15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Velocidades altas en CARLA</a:t>
              </a:r>
              <a:endParaRPr b="0" sz="15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7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Optimización:</a:t>
              </a:r>
              <a:endParaRPr b="1" sz="17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sz="1500">
                <a:solidFill>
                  <a:srgbClr val="4B5563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Resolución del seguimiento de  carril recompensando velocidades altas.</a:t>
              </a:r>
              <a:endParaRPr b="0" sz="15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3" name="Google Shape;153;p3"/>
          <p:cNvGrpSpPr/>
          <p:nvPr/>
        </p:nvGrpSpPr>
        <p:grpSpPr>
          <a:xfrm>
            <a:off x="4333875" y="1333500"/>
            <a:ext cx="3524400" cy="4572000"/>
            <a:chOff x="4333875" y="1333500"/>
            <a:chExt cx="3524400" cy="4572000"/>
          </a:xfrm>
        </p:grpSpPr>
        <p:sp>
          <p:nvSpPr>
            <p:cNvPr id="154" name="Google Shape;154;p3"/>
            <p:cNvSpPr/>
            <p:nvPr/>
          </p:nvSpPr>
          <p:spPr>
            <a:xfrm>
              <a:off x="4333875" y="1333500"/>
              <a:ext cx="3524400" cy="4572000"/>
            </a:xfrm>
            <a:prstGeom prst="roundRect">
              <a:avLst>
                <a:gd fmla="val 324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3"/>
            <p:cNvSpPr txBox="1"/>
            <p:nvPr/>
          </p:nvSpPr>
          <p:spPr>
            <a:xfrm>
              <a:off x="4524375" y="1524000"/>
              <a:ext cx="3143400" cy="419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3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Análisis y Percepción</a:t>
              </a:r>
              <a:endParaRPr b="1" sz="23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7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Comportamiento Agentes:</a:t>
              </a:r>
              <a:endParaRPr b="1" sz="17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2385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4B5563"/>
                </a:buClr>
                <a:buSzPts val="1500"/>
                <a:buFont typeface="Arial"/>
                <a:buChar char="●"/>
              </a:pPr>
              <a:r>
                <a:rPr b="0" lang="en-US" sz="15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Curvas, rectas, intersecciones...</a:t>
              </a:r>
              <a:endParaRPr b="0" sz="15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238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B5563"/>
                </a:buClr>
                <a:buSzPts val="1500"/>
                <a:buFont typeface="Arial"/>
                <a:buChar char="●"/>
              </a:pPr>
              <a:r>
                <a:rPr b="0" lang="en-US" sz="15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Uso de BehaviorMetrics</a:t>
              </a:r>
              <a:endParaRPr b="0" sz="15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7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Sistemas de Percepción:</a:t>
              </a:r>
              <a:endParaRPr b="1" sz="17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23850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4B5563"/>
                </a:buClr>
                <a:buSzPts val="1500"/>
                <a:buFont typeface="Arial"/>
                <a:buChar char="●"/>
              </a:pPr>
              <a:r>
                <a:rPr b="0" lang="en-US" sz="15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LaneDetector</a:t>
              </a:r>
              <a:endParaRPr b="0" sz="15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23850" lvl="0" marL="457200" rtl="0" algn="l">
                <a:spcBef>
                  <a:spcPts val="450"/>
                </a:spcBef>
                <a:spcAft>
                  <a:spcPts val="0"/>
                </a:spcAft>
                <a:buClr>
                  <a:srgbClr val="4B5563"/>
                </a:buClr>
                <a:buSzPts val="1500"/>
                <a:buFont typeface="Arial"/>
                <a:buChar char="●"/>
              </a:pPr>
              <a:r>
                <a:rPr b="0" lang="en-US" sz="15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Yolop</a:t>
              </a:r>
              <a:endParaRPr b="0" sz="15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23850" lvl="0" marL="457200" rtl="0" algn="l">
                <a:spcBef>
                  <a:spcPts val="450"/>
                </a:spcBef>
                <a:spcAft>
                  <a:spcPts val="450"/>
                </a:spcAft>
                <a:buClr>
                  <a:srgbClr val="4B5563"/>
                </a:buClr>
                <a:buSzPts val="1500"/>
                <a:buFont typeface="Arial"/>
                <a:buChar char="●"/>
              </a:pPr>
              <a:r>
                <a:rPr b="0" lang="en-US" sz="15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Thresholding</a:t>
              </a:r>
              <a:endParaRPr b="0" sz="15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56" name="Google Shape;156;p3"/>
          <p:cNvGrpSpPr/>
          <p:nvPr/>
        </p:nvGrpSpPr>
        <p:grpSpPr>
          <a:xfrm>
            <a:off x="8096250" y="1333500"/>
            <a:ext cx="3524400" cy="4572000"/>
            <a:chOff x="8096250" y="1333500"/>
            <a:chExt cx="3524400" cy="4572000"/>
          </a:xfrm>
        </p:grpSpPr>
        <p:sp>
          <p:nvSpPr>
            <p:cNvPr id="157" name="Google Shape;157;p3"/>
            <p:cNvSpPr/>
            <p:nvPr/>
          </p:nvSpPr>
          <p:spPr>
            <a:xfrm>
              <a:off x="8096250" y="1333500"/>
              <a:ext cx="3524400" cy="4572000"/>
            </a:xfrm>
            <a:prstGeom prst="roundRect">
              <a:avLst>
                <a:gd fmla="val 3243" name="adj"/>
              </a:avLst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3"/>
            <p:cNvSpPr txBox="1"/>
            <p:nvPr/>
          </p:nvSpPr>
          <p:spPr>
            <a:xfrm>
              <a:off x="8286750" y="1524000"/>
              <a:ext cx="3143400" cy="419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4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Generalización</a:t>
              </a:r>
              <a:endParaRPr b="1" sz="24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Escenarios de Prueba:</a:t>
              </a:r>
              <a:endParaRPr b="1" sz="18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302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4B5563"/>
                </a:buClr>
                <a:buSzPts val="1600"/>
                <a:buFont typeface="Arial"/>
                <a:buChar char="●"/>
              </a:pPr>
              <a:r>
                <a:rPr b="0" lang="en-US" sz="16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Entrenamiento en diferentes ciudades de CARLA.</a:t>
              </a:r>
              <a:endParaRPr b="0" sz="16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-330200" lvl="0" marL="457200" rtl="0" algn="l">
                <a:spcBef>
                  <a:spcPts val="750"/>
                </a:spcBef>
                <a:spcAft>
                  <a:spcPts val="0"/>
                </a:spcAft>
                <a:buClr>
                  <a:srgbClr val="4B5563"/>
                </a:buClr>
                <a:buSzPts val="1600"/>
                <a:buFont typeface="Arial"/>
                <a:buChar char="●"/>
              </a:pPr>
              <a:r>
                <a:rPr b="0" lang="en-US" sz="16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Evaluación multi-entorno para justificar robustez.</a:t>
              </a:r>
              <a:endParaRPr b="0" sz="16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Objetivo:</a:t>
              </a:r>
              <a:endParaRPr b="1" sz="18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4B5563"/>
                  </a:solidFill>
                  <a:latin typeface="Arial"/>
                  <a:ea typeface="Arial"/>
                  <a:cs typeface="Arial"/>
                  <a:sym typeface="Arial"/>
                </a:rPr>
                <a:t>Justificar la generalización de los agentes entrenados.</a:t>
              </a:r>
              <a:endParaRPr b="0" sz="1600">
                <a:solidFill>
                  <a:srgbClr val="4B556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b38136098_0_1695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db38136098_0_1695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Actividades realizadas en el curso 2025-2026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5" name="Google Shape;165;g3db38136098_0_1695"/>
          <p:cNvGrpSpPr/>
          <p:nvPr/>
        </p:nvGrpSpPr>
        <p:grpSpPr>
          <a:xfrm>
            <a:off x="571500" y="1428750"/>
            <a:ext cx="3524400" cy="2190900"/>
            <a:chOff x="571500" y="1428750"/>
            <a:chExt cx="3524400" cy="2190900"/>
          </a:xfrm>
        </p:grpSpPr>
        <p:sp>
          <p:nvSpPr>
            <p:cNvPr id="166" name="Google Shape;166;g3db38136098_0_1695"/>
            <p:cNvSpPr/>
            <p:nvPr/>
          </p:nvSpPr>
          <p:spPr>
            <a:xfrm>
              <a:off x="571500" y="1428750"/>
              <a:ext cx="3524400" cy="2190900"/>
            </a:xfrm>
            <a:prstGeom prst="roundRect">
              <a:avLst>
                <a:gd fmla="val 5217" name="adj"/>
              </a:avLst>
            </a:prstGeom>
            <a:solidFill>
              <a:srgbClr val="F3F4F6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g3db38136098_0_1695"/>
            <p:cNvSpPr txBox="1"/>
            <p:nvPr/>
          </p:nvSpPr>
          <p:spPr>
            <a:xfrm>
              <a:off x="762000" y="160667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8" name="Google Shape;168;g3db38136098_0_1695"/>
            <p:cNvSpPr txBox="1"/>
            <p:nvPr/>
          </p:nvSpPr>
          <p:spPr>
            <a:xfrm>
              <a:off x="762000" y="2000250"/>
              <a:ext cx="3143400" cy="147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Toma de Decisiones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Inclusión de </a:t>
              </a:r>
              <a:r>
                <a:rPr b="1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TD3</a:t>
              </a:r>
              <a:r>
                <a:rPr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 en la comparativa de algoritmos para la toma de decisiones.</a:t>
              </a:r>
              <a:endParaRPr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db38136098_0_172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g3db38136098_0_1721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Actividades realizadas en el curso 2025-2026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5" name="Google Shape;175;g3db38136098_0_1721"/>
          <p:cNvGrpSpPr/>
          <p:nvPr/>
        </p:nvGrpSpPr>
        <p:grpSpPr>
          <a:xfrm>
            <a:off x="566738" y="1423988"/>
            <a:ext cx="3533700" cy="2200200"/>
            <a:chOff x="566738" y="1423988"/>
            <a:chExt cx="3533700" cy="2200200"/>
          </a:xfrm>
        </p:grpSpPr>
        <p:pic>
          <p:nvPicPr>
            <p:cNvPr id="176" name="Google Shape;176;g3db38136098_0_17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66738" y="1423988"/>
              <a:ext cx="3533700" cy="2200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g3db38136098_0_1721"/>
            <p:cNvSpPr txBox="1"/>
            <p:nvPr/>
          </p:nvSpPr>
          <p:spPr>
            <a:xfrm>
              <a:off x="762000" y="1641729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78" name="Google Shape;178;g3db38136098_0_1721"/>
            <p:cNvSpPr txBox="1"/>
            <p:nvPr/>
          </p:nvSpPr>
          <p:spPr>
            <a:xfrm>
              <a:off x="762000" y="2000250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Toma de Decisiones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Inclusión de </a:t>
              </a:r>
              <a:r>
                <a:rPr b="1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TD3</a:t>
              </a: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 en la comparativa de algoritmos para la toma de decisiones.</a:t>
              </a:r>
              <a:endParaRPr b="0"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9" name="Google Shape;179;g3db38136098_0_1721"/>
          <p:cNvGrpSpPr/>
          <p:nvPr/>
        </p:nvGrpSpPr>
        <p:grpSpPr>
          <a:xfrm>
            <a:off x="4333875" y="1428750"/>
            <a:ext cx="3524400" cy="2190900"/>
            <a:chOff x="4333875" y="1428750"/>
            <a:chExt cx="3524400" cy="2190900"/>
          </a:xfrm>
        </p:grpSpPr>
        <p:sp>
          <p:nvSpPr>
            <p:cNvPr id="180" name="Google Shape;180;g3db38136098_0_1721"/>
            <p:cNvSpPr/>
            <p:nvPr/>
          </p:nvSpPr>
          <p:spPr>
            <a:xfrm>
              <a:off x="4333875" y="1428750"/>
              <a:ext cx="3524400" cy="2190900"/>
            </a:xfrm>
            <a:prstGeom prst="roundRect">
              <a:avLst>
                <a:gd fmla="val 5217" name="adj"/>
              </a:avLst>
            </a:prstGeom>
            <a:solidFill>
              <a:srgbClr val="F3F4F6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g3db38136098_0_1721"/>
            <p:cNvSpPr txBox="1"/>
            <p:nvPr/>
          </p:nvSpPr>
          <p:spPr>
            <a:xfrm>
              <a:off x="4524375" y="160667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</a:t>
              </a:r>
              <a:endParaRPr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82" name="Google Shape;182;g3db38136098_0_1721"/>
            <p:cNvSpPr txBox="1"/>
            <p:nvPr/>
          </p:nvSpPr>
          <p:spPr>
            <a:xfrm>
              <a:off x="4524375" y="2000250"/>
              <a:ext cx="3143400" cy="147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Sistemas Perceptivos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Inclusión de </a:t>
              </a:r>
              <a:r>
                <a:rPr b="1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YOLOPV2</a:t>
              </a:r>
              <a:r>
                <a:rPr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 en la comparativa de sistemas perceptivos y en los pipelines de entrenamiento y evaluación.</a:t>
              </a:r>
              <a:endParaRPr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b38136098_0_1747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g3db38136098_0_1747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Actividades realizadas en el curso 2025-2026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9" name="Google Shape;189;g3db38136098_0_1747"/>
          <p:cNvGrpSpPr/>
          <p:nvPr/>
        </p:nvGrpSpPr>
        <p:grpSpPr>
          <a:xfrm>
            <a:off x="4329113" y="1423988"/>
            <a:ext cx="3533700" cy="2200200"/>
            <a:chOff x="4329113" y="1423988"/>
            <a:chExt cx="3533700" cy="2200200"/>
          </a:xfrm>
        </p:grpSpPr>
        <p:pic>
          <p:nvPicPr>
            <p:cNvPr id="190" name="Google Shape;190;g3db38136098_0_174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329113" y="1423988"/>
              <a:ext cx="3533700" cy="2200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1" name="Google Shape;191;g3db38136098_0_1747"/>
            <p:cNvSpPr txBox="1"/>
            <p:nvPr/>
          </p:nvSpPr>
          <p:spPr>
            <a:xfrm>
              <a:off x="4524375" y="1676781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92" name="Google Shape;192;g3db38136098_0_1747"/>
            <p:cNvSpPr txBox="1"/>
            <p:nvPr/>
          </p:nvSpPr>
          <p:spPr>
            <a:xfrm>
              <a:off x="4524375" y="2000250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Sistemas Perceptivos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Inclusión de </a:t>
              </a:r>
              <a:r>
                <a:rPr b="1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YOLOPV2</a:t>
              </a: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 en la comparativa de sistemas perceptivos y en los pipelines de entrenamiento y evaluación.</a:t>
              </a:r>
              <a:endParaRPr b="1" sz="16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3" name="Google Shape;193;g3db38136098_0_1747"/>
          <p:cNvGrpSpPr/>
          <p:nvPr/>
        </p:nvGrpSpPr>
        <p:grpSpPr>
          <a:xfrm>
            <a:off x="8096250" y="1428750"/>
            <a:ext cx="3524400" cy="2190900"/>
            <a:chOff x="8096250" y="1428750"/>
            <a:chExt cx="3524400" cy="2190900"/>
          </a:xfrm>
        </p:grpSpPr>
        <p:sp>
          <p:nvSpPr>
            <p:cNvPr id="194" name="Google Shape;194;g3db38136098_0_1747"/>
            <p:cNvSpPr/>
            <p:nvPr/>
          </p:nvSpPr>
          <p:spPr>
            <a:xfrm>
              <a:off x="8096250" y="1428750"/>
              <a:ext cx="3524400" cy="2190900"/>
            </a:xfrm>
            <a:prstGeom prst="roundRect">
              <a:avLst>
                <a:gd fmla="val 5217" name="adj"/>
              </a:avLst>
            </a:prstGeom>
            <a:solidFill>
              <a:srgbClr val="F3F4F6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5" name="Google Shape;195;g3db38136098_0_1747"/>
            <p:cNvSpPr txBox="1"/>
            <p:nvPr/>
          </p:nvSpPr>
          <p:spPr>
            <a:xfrm>
              <a:off x="8286750" y="160667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analytics</a:t>
              </a:r>
              <a:endParaRPr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96" name="Google Shape;196;g3db38136098_0_1747"/>
            <p:cNvSpPr txBox="1"/>
            <p:nvPr/>
          </p:nvSpPr>
          <p:spPr>
            <a:xfrm>
              <a:off x="8286750" y="2000250"/>
              <a:ext cx="3143400" cy="147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Análisis de Rendimiento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Evolución del análisis mediante integración de procesado estadístico y diversificación de escenarios para cuatro algoritmos.</a:t>
              </a:r>
              <a:endParaRPr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" name="Google Shape;197;g3db38136098_0_1747"/>
          <p:cNvGrpSpPr/>
          <p:nvPr/>
        </p:nvGrpSpPr>
        <p:grpSpPr>
          <a:xfrm>
            <a:off x="566738" y="1423988"/>
            <a:ext cx="3533700" cy="2200200"/>
            <a:chOff x="566738" y="1423988"/>
            <a:chExt cx="3533700" cy="2200200"/>
          </a:xfrm>
        </p:grpSpPr>
        <p:pic>
          <p:nvPicPr>
            <p:cNvPr id="198" name="Google Shape;198;g3db38136098_0_174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66738" y="1423988"/>
              <a:ext cx="3533700" cy="2200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9" name="Google Shape;199;g3db38136098_0_1747"/>
            <p:cNvSpPr txBox="1"/>
            <p:nvPr/>
          </p:nvSpPr>
          <p:spPr>
            <a:xfrm>
              <a:off x="762000" y="1641729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00" name="Google Shape;200;g3db38136098_0_1747"/>
            <p:cNvSpPr txBox="1"/>
            <p:nvPr/>
          </p:nvSpPr>
          <p:spPr>
            <a:xfrm>
              <a:off x="762000" y="2000250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Toma de Decisiones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Inclusión de </a:t>
              </a:r>
              <a:r>
                <a:rPr b="1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TD3</a:t>
              </a: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 en la comparativa de algoritmos para la toma de decisiones.</a:t>
              </a:r>
              <a:endParaRPr b="0"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b38136098_0_1799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g3db38136098_0_1799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Actividades realizadas en el curso 2025-2026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7" name="Google Shape;207;g3db38136098_0_179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2400" y="1348160"/>
            <a:ext cx="11887201" cy="42777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b38136098_0_1825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g3db38136098_0_1825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Actividades realizadas en el curso 2025-2026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g3db38136098_0_18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450" y="1367265"/>
            <a:ext cx="11887201" cy="42777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db38136098_0_1830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g3db38136098_0_1830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Actividades realizadas en el curso 2025-2026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1" name="Google Shape;221;g3db38136098_0_18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200" y="1261585"/>
            <a:ext cx="11887201" cy="50945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db38136098_0_1773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g3db38136098_0_1773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Actividades realizadas en el curso 2025-2026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8" name="Google Shape;228;g3db38136098_0_177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1488" y="1423988"/>
            <a:ext cx="3533700" cy="2200200"/>
          </a:xfrm>
          <a:prstGeom prst="roundRect">
            <a:avLst>
              <a:gd fmla="val 5194" name="adj"/>
            </a:avLst>
          </a:prstGeom>
          <a:noFill/>
          <a:ln>
            <a:noFill/>
          </a:ln>
        </p:spPr>
      </p:pic>
      <p:grpSp>
        <p:nvGrpSpPr>
          <p:cNvPr id="229" name="Google Shape;229;g3db38136098_0_1773"/>
          <p:cNvGrpSpPr/>
          <p:nvPr/>
        </p:nvGrpSpPr>
        <p:grpSpPr>
          <a:xfrm>
            <a:off x="8286750" y="1676781"/>
            <a:ext cx="3143400" cy="1799769"/>
            <a:chOff x="8286750" y="1676781"/>
            <a:chExt cx="3143400" cy="1799769"/>
          </a:xfrm>
        </p:grpSpPr>
        <p:sp>
          <p:nvSpPr>
            <p:cNvPr id="230" name="Google Shape;230;g3db38136098_0_1773"/>
            <p:cNvSpPr txBox="1"/>
            <p:nvPr/>
          </p:nvSpPr>
          <p:spPr>
            <a:xfrm>
              <a:off x="8286750" y="1676781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analytics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31" name="Google Shape;231;g3db38136098_0_1773"/>
            <p:cNvSpPr txBox="1"/>
            <p:nvPr/>
          </p:nvSpPr>
          <p:spPr>
            <a:xfrm>
              <a:off x="8286750" y="2000250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Análisis de Rendimiento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Evolución del análisis mediante integración de procesado estadístico y diversificación de escenarios para cuatro algoritmos.</a:t>
              </a:r>
              <a:endParaRPr b="1" sz="16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g3db38136098_0_1773"/>
          <p:cNvGrpSpPr/>
          <p:nvPr/>
        </p:nvGrpSpPr>
        <p:grpSpPr>
          <a:xfrm>
            <a:off x="571500" y="3857625"/>
            <a:ext cx="5381700" cy="1905000"/>
            <a:chOff x="571500" y="3857625"/>
            <a:chExt cx="5381700" cy="1905000"/>
          </a:xfrm>
        </p:grpSpPr>
        <p:sp>
          <p:nvSpPr>
            <p:cNvPr id="233" name="Google Shape;233;g3db38136098_0_1773"/>
            <p:cNvSpPr/>
            <p:nvPr/>
          </p:nvSpPr>
          <p:spPr>
            <a:xfrm>
              <a:off x="571500" y="3857625"/>
              <a:ext cx="5381700" cy="1905000"/>
            </a:xfrm>
            <a:prstGeom prst="roundRect">
              <a:avLst>
                <a:gd fmla="val 6000" name="adj"/>
              </a:avLst>
            </a:prstGeom>
            <a:solidFill>
              <a:srgbClr val="F3F4F6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g3db38136098_0_1773"/>
            <p:cNvSpPr txBox="1"/>
            <p:nvPr/>
          </p:nvSpPr>
          <p:spPr>
            <a:xfrm>
              <a:off x="762000" y="4035552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article</a:t>
              </a:r>
              <a:endParaRPr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35" name="Google Shape;235;g3db38136098_0_1773"/>
            <p:cNvSpPr txBox="1"/>
            <p:nvPr/>
          </p:nvSpPr>
          <p:spPr>
            <a:xfrm>
              <a:off x="762000" y="4429125"/>
              <a:ext cx="50007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Investigación y Publicación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Redacción de un artículo de investigación enfocado en evaluar el equilibrio entre el rendimiento y la robustez de los agentes.</a:t>
              </a:r>
              <a:endParaRPr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6" name="Google Shape;236;g3db38136098_0_1773"/>
          <p:cNvGrpSpPr/>
          <p:nvPr/>
        </p:nvGrpSpPr>
        <p:grpSpPr>
          <a:xfrm>
            <a:off x="4329113" y="1423988"/>
            <a:ext cx="3533700" cy="2200200"/>
            <a:chOff x="4329113" y="1423988"/>
            <a:chExt cx="3533700" cy="2200200"/>
          </a:xfrm>
        </p:grpSpPr>
        <p:pic>
          <p:nvPicPr>
            <p:cNvPr id="237" name="Google Shape;237;g3db38136098_0_177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329113" y="1423988"/>
              <a:ext cx="3533700" cy="2200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8" name="Google Shape;238;g3db38136098_0_1773"/>
            <p:cNvSpPr txBox="1"/>
            <p:nvPr/>
          </p:nvSpPr>
          <p:spPr>
            <a:xfrm>
              <a:off x="4524375" y="1676781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39" name="Google Shape;239;g3db38136098_0_1773"/>
            <p:cNvSpPr txBox="1"/>
            <p:nvPr/>
          </p:nvSpPr>
          <p:spPr>
            <a:xfrm>
              <a:off x="4524375" y="2000250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Sistemas Perceptivos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Inclusión de </a:t>
              </a:r>
              <a:r>
                <a:rPr b="1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YOLOPV2</a:t>
              </a: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 en la comparativa de sistemas perceptivos y en los pipelines de entrenamiento y evaluación.</a:t>
              </a:r>
              <a:endParaRPr b="1" sz="16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0" name="Google Shape;240;g3db38136098_0_1773"/>
          <p:cNvGrpSpPr/>
          <p:nvPr/>
        </p:nvGrpSpPr>
        <p:grpSpPr>
          <a:xfrm>
            <a:off x="566738" y="1423988"/>
            <a:ext cx="3533700" cy="2200200"/>
            <a:chOff x="566738" y="1423988"/>
            <a:chExt cx="3533700" cy="2200200"/>
          </a:xfrm>
        </p:grpSpPr>
        <p:pic>
          <p:nvPicPr>
            <p:cNvPr id="241" name="Google Shape;241;g3db38136098_0_177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66738" y="1423988"/>
              <a:ext cx="3533700" cy="2200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2" name="Google Shape;242;g3db38136098_0_1773"/>
            <p:cNvSpPr txBox="1"/>
            <p:nvPr/>
          </p:nvSpPr>
          <p:spPr>
            <a:xfrm>
              <a:off x="762000" y="1641729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43" name="Google Shape;243;g3db38136098_0_1773"/>
            <p:cNvSpPr txBox="1"/>
            <p:nvPr/>
          </p:nvSpPr>
          <p:spPr>
            <a:xfrm>
              <a:off x="762000" y="2000250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Toma de Decisiones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Inclusión de </a:t>
              </a:r>
              <a:r>
                <a:rPr b="1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TD3</a:t>
              </a: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 en la comparativa de algoritmos para la toma de decisiones.</a:t>
              </a:r>
              <a:endParaRPr b="0"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4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Actividades realizadas en el curso 2025-2026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0" name="Google Shape;250;p4"/>
          <p:cNvGrpSpPr/>
          <p:nvPr/>
        </p:nvGrpSpPr>
        <p:grpSpPr>
          <a:xfrm>
            <a:off x="762000" y="4070604"/>
            <a:ext cx="3143400" cy="1834821"/>
            <a:chOff x="762000" y="4070604"/>
            <a:chExt cx="3143400" cy="1834821"/>
          </a:xfrm>
        </p:grpSpPr>
        <p:sp>
          <p:nvSpPr>
            <p:cNvPr id="251" name="Google Shape;251;p4"/>
            <p:cNvSpPr txBox="1"/>
            <p:nvPr/>
          </p:nvSpPr>
          <p:spPr>
            <a:xfrm>
              <a:off x="762000" y="4070604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article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52" name="Google Shape;252;p4"/>
            <p:cNvSpPr txBox="1"/>
            <p:nvPr/>
          </p:nvSpPr>
          <p:spPr>
            <a:xfrm>
              <a:off x="762000" y="4429125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Investigación y Publicación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Redacción de un artículo de investigación enfocado en evaluar el equilibrio entre el rendimiento y la robustez de los agentes.</a:t>
              </a:r>
              <a:endParaRPr b="0"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3" name="Google Shape;253;p4"/>
          <p:cNvGrpSpPr/>
          <p:nvPr/>
        </p:nvGrpSpPr>
        <p:grpSpPr>
          <a:xfrm>
            <a:off x="6238875" y="3857625"/>
            <a:ext cx="5381700" cy="1905000"/>
            <a:chOff x="6238875" y="3857625"/>
            <a:chExt cx="5381700" cy="1905000"/>
          </a:xfrm>
        </p:grpSpPr>
        <p:sp>
          <p:nvSpPr>
            <p:cNvPr id="254" name="Google Shape;254;p4"/>
            <p:cNvSpPr/>
            <p:nvPr/>
          </p:nvSpPr>
          <p:spPr>
            <a:xfrm>
              <a:off x="6238875" y="3857625"/>
              <a:ext cx="5381700" cy="1905000"/>
            </a:xfrm>
            <a:prstGeom prst="roundRect">
              <a:avLst>
                <a:gd fmla="val 6000" name="adj"/>
              </a:avLst>
            </a:prstGeom>
            <a:solidFill>
              <a:srgbClr val="F3F4F6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4"/>
            <p:cNvSpPr txBox="1"/>
            <p:nvPr/>
          </p:nvSpPr>
          <p:spPr>
            <a:xfrm>
              <a:off x="6429375" y="4035552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settings_input_component</a:t>
              </a:r>
              <a:endParaRPr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56" name="Google Shape;256;p4"/>
            <p:cNvSpPr txBox="1"/>
            <p:nvPr/>
          </p:nvSpPr>
          <p:spPr>
            <a:xfrm>
              <a:off x="6429375" y="4429125"/>
              <a:ext cx="50007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Control Adaptativo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Implementación de control adaptativo de crucero en el sistema evaluado para el seguimiento de carril.</a:t>
              </a:r>
              <a:endParaRPr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57" name="Google Shape;25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1488" y="1423988"/>
            <a:ext cx="3533700" cy="2200200"/>
          </a:xfrm>
          <a:prstGeom prst="roundRect">
            <a:avLst>
              <a:gd fmla="val 5194" name="adj"/>
            </a:avLst>
          </a:prstGeom>
          <a:noFill/>
          <a:ln>
            <a:noFill/>
          </a:ln>
        </p:spPr>
      </p:pic>
      <p:grpSp>
        <p:nvGrpSpPr>
          <p:cNvPr id="258" name="Google Shape;258;p4"/>
          <p:cNvGrpSpPr/>
          <p:nvPr/>
        </p:nvGrpSpPr>
        <p:grpSpPr>
          <a:xfrm>
            <a:off x="8286750" y="1676781"/>
            <a:ext cx="3143400" cy="1799769"/>
            <a:chOff x="8286750" y="1676781"/>
            <a:chExt cx="3143400" cy="1799769"/>
          </a:xfrm>
        </p:grpSpPr>
        <p:sp>
          <p:nvSpPr>
            <p:cNvPr id="259" name="Google Shape;259;p4"/>
            <p:cNvSpPr txBox="1"/>
            <p:nvPr/>
          </p:nvSpPr>
          <p:spPr>
            <a:xfrm>
              <a:off x="8286750" y="1676781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analytics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60" name="Google Shape;260;p4"/>
            <p:cNvSpPr txBox="1"/>
            <p:nvPr/>
          </p:nvSpPr>
          <p:spPr>
            <a:xfrm>
              <a:off x="8286750" y="2000250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Análisis de Rendimiento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Evolución del análisis mediante integración de procesado estadístico y diversificación de escenarios para cuatro algoritmos.</a:t>
              </a:r>
              <a:endParaRPr b="1" sz="16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1" name="Google Shape;261;p4"/>
          <p:cNvGrpSpPr/>
          <p:nvPr/>
        </p:nvGrpSpPr>
        <p:grpSpPr>
          <a:xfrm>
            <a:off x="4329113" y="1423988"/>
            <a:ext cx="3533700" cy="2200200"/>
            <a:chOff x="4329113" y="1423988"/>
            <a:chExt cx="3533700" cy="2200200"/>
          </a:xfrm>
        </p:grpSpPr>
        <p:pic>
          <p:nvPicPr>
            <p:cNvPr id="262" name="Google Shape;262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4329113" y="1423988"/>
              <a:ext cx="3533700" cy="2200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3" name="Google Shape;263;p4"/>
            <p:cNvSpPr txBox="1"/>
            <p:nvPr/>
          </p:nvSpPr>
          <p:spPr>
            <a:xfrm>
              <a:off x="4524375" y="1676781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visibility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64" name="Google Shape;264;p4"/>
            <p:cNvSpPr txBox="1"/>
            <p:nvPr/>
          </p:nvSpPr>
          <p:spPr>
            <a:xfrm>
              <a:off x="4524375" y="2000250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Sistemas Perceptivos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Inclusión de </a:t>
              </a:r>
              <a:r>
                <a:rPr b="1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YOLOPV2</a:t>
              </a: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 en la comparativa de sistemas perceptivos y en los pipelines de entrenamiento y evaluación.</a:t>
              </a:r>
              <a:endParaRPr b="1" sz="16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65" name="Google Shape;265;p4"/>
          <p:cNvGrpSpPr/>
          <p:nvPr/>
        </p:nvGrpSpPr>
        <p:grpSpPr>
          <a:xfrm>
            <a:off x="566738" y="1423988"/>
            <a:ext cx="3533700" cy="2200200"/>
            <a:chOff x="566738" y="1423988"/>
            <a:chExt cx="3533700" cy="2200200"/>
          </a:xfrm>
        </p:grpSpPr>
        <p:pic>
          <p:nvPicPr>
            <p:cNvPr id="266" name="Google Shape;266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66738" y="1423988"/>
              <a:ext cx="3533700" cy="22002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7" name="Google Shape;267;p4"/>
            <p:cNvSpPr txBox="1"/>
            <p:nvPr/>
          </p:nvSpPr>
          <p:spPr>
            <a:xfrm>
              <a:off x="762000" y="1641729"/>
              <a:ext cx="381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b="0"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68" name="Google Shape;268;p4"/>
            <p:cNvSpPr txBox="1"/>
            <p:nvPr/>
          </p:nvSpPr>
          <p:spPr>
            <a:xfrm>
              <a:off x="762000" y="2000250"/>
              <a:ext cx="31434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Toma de Decisiones</a:t>
              </a:r>
              <a:endParaRPr b="1" sz="18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Inclusión de </a:t>
              </a:r>
              <a:r>
                <a:rPr b="1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TD3</a:t>
              </a: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 en la comparativa de algoritmos para la toma de decisiones.</a:t>
              </a:r>
              <a:endParaRPr b="0"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db38136098_0_1838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g3db38136098_0_1838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Actividades realizadas en el curso 2025-2026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5" name="Google Shape;275;g3db38136098_0_1838" title="simplescreenrecorder-2026-01-13_23.12.28.mp4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477650" y="961802"/>
            <a:ext cx="7236701" cy="572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0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0"/>
          <p:cNvSpPr txBox="1"/>
          <p:nvPr/>
        </p:nvSpPr>
        <p:spPr>
          <a:xfrm>
            <a:off x="609600" y="190500"/>
            <a:ext cx="1097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Trabajos Futuros</a:t>
            </a:r>
            <a:endParaRPr b="1" sz="32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83" name="Google Shape;283;p10"/>
          <p:cNvGrpSpPr/>
          <p:nvPr/>
        </p:nvGrpSpPr>
        <p:grpSpPr>
          <a:xfrm>
            <a:off x="571500" y="1524000"/>
            <a:ext cx="5381700" cy="2190900"/>
            <a:chOff x="571500" y="1524000"/>
            <a:chExt cx="5381700" cy="2190900"/>
          </a:xfrm>
        </p:grpSpPr>
        <p:sp>
          <p:nvSpPr>
            <p:cNvPr id="284" name="Google Shape;284;p10"/>
            <p:cNvSpPr/>
            <p:nvPr/>
          </p:nvSpPr>
          <p:spPr>
            <a:xfrm>
              <a:off x="571500" y="1524000"/>
              <a:ext cx="5381700" cy="2190900"/>
            </a:xfrm>
            <a:prstGeom prst="roundRect">
              <a:avLst>
                <a:gd fmla="val 5217" name="adj"/>
              </a:avLst>
            </a:prstGeom>
            <a:solidFill>
              <a:srgbClr val="F3F4F6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10"/>
            <p:cNvSpPr txBox="1"/>
            <p:nvPr/>
          </p:nvSpPr>
          <p:spPr>
            <a:xfrm>
              <a:off x="762000" y="170192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biotech</a:t>
              </a:r>
              <a:endParaRPr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86" name="Google Shape;286;p10"/>
            <p:cNvSpPr txBox="1"/>
            <p:nvPr/>
          </p:nvSpPr>
          <p:spPr>
            <a:xfrm>
              <a:off x="762000" y="2047875"/>
              <a:ext cx="50007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9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Integración Avanzada YOLOPV2</a:t>
              </a:r>
              <a:endParaRPr b="1" sz="19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Reentrenamiento y postprocesado para afrontar pérdida de líneas, baja iluminación y climas adversos en el simulador.</a:t>
              </a:r>
              <a:endParaRPr b="0"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7" name="Google Shape;287;p10"/>
          <p:cNvGrpSpPr/>
          <p:nvPr/>
        </p:nvGrpSpPr>
        <p:grpSpPr>
          <a:xfrm>
            <a:off x="6238875" y="1524000"/>
            <a:ext cx="5381700" cy="2190900"/>
            <a:chOff x="6238875" y="1524000"/>
            <a:chExt cx="5381700" cy="2190900"/>
          </a:xfrm>
        </p:grpSpPr>
        <p:sp>
          <p:nvSpPr>
            <p:cNvPr id="288" name="Google Shape;288;p10"/>
            <p:cNvSpPr/>
            <p:nvPr/>
          </p:nvSpPr>
          <p:spPr>
            <a:xfrm>
              <a:off x="6238875" y="1524000"/>
              <a:ext cx="5381700" cy="2190900"/>
            </a:xfrm>
            <a:prstGeom prst="roundRect">
              <a:avLst>
                <a:gd fmla="val 5217" name="adj"/>
              </a:avLst>
            </a:prstGeom>
            <a:solidFill>
              <a:srgbClr val="F3F4F6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10"/>
            <p:cNvSpPr txBox="1"/>
            <p:nvPr/>
          </p:nvSpPr>
          <p:spPr>
            <a:xfrm>
              <a:off x="6429375" y="170192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insights</a:t>
              </a:r>
              <a:endParaRPr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0" name="Google Shape;290;p10"/>
            <p:cNvSpPr txBox="1"/>
            <p:nvPr/>
          </p:nvSpPr>
          <p:spPr>
            <a:xfrm>
              <a:off x="6429375" y="2047875"/>
              <a:ext cx="50007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9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Optimización de Control Adaptativo</a:t>
              </a:r>
              <a:endParaRPr b="1" sz="19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Evaluación cuantitativa y procesamiento estadístico del control de crucero para su posterior mejora.</a:t>
              </a:r>
              <a:endParaRPr b="0"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1" name="Google Shape;291;p10"/>
          <p:cNvGrpSpPr/>
          <p:nvPr/>
        </p:nvGrpSpPr>
        <p:grpSpPr>
          <a:xfrm>
            <a:off x="571500" y="4000500"/>
            <a:ext cx="5381700" cy="2190900"/>
            <a:chOff x="571500" y="4000500"/>
            <a:chExt cx="5381700" cy="2190900"/>
          </a:xfrm>
        </p:grpSpPr>
        <p:sp>
          <p:nvSpPr>
            <p:cNvPr id="292" name="Google Shape;292;p10"/>
            <p:cNvSpPr/>
            <p:nvPr/>
          </p:nvSpPr>
          <p:spPr>
            <a:xfrm>
              <a:off x="571500" y="4000500"/>
              <a:ext cx="5381700" cy="2190900"/>
            </a:xfrm>
            <a:prstGeom prst="roundRect">
              <a:avLst>
                <a:gd fmla="val 5217" name="adj"/>
              </a:avLst>
            </a:prstGeom>
            <a:solidFill>
              <a:srgbClr val="F3F4F6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10"/>
            <p:cNvSpPr txBox="1"/>
            <p:nvPr/>
          </p:nvSpPr>
          <p:spPr>
            <a:xfrm>
              <a:off x="762000" y="417842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rocket_launch</a:t>
              </a:r>
              <a:endParaRPr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4" name="Google Shape;294;p10"/>
            <p:cNvSpPr txBox="1"/>
            <p:nvPr/>
          </p:nvSpPr>
          <p:spPr>
            <a:xfrm>
              <a:off x="762000" y="4524375"/>
              <a:ext cx="50007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9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Desafíos del Estado del Arte</a:t>
              </a:r>
              <a:endParaRPr b="1" sz="19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Convoys, negociación de cruces, adelantamientos y sistemas multi-agente para aportar valor incremental.</a:t>
              </a:r>
              <a:endParaRPr b="0"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5" name="Google Shape;295;p10"/>
          <p:cNvGrpSpPr/>
          <p:nvPr/>
        </p:nvGrpSpPr>
        <p:grpSpPr>
          <a:xfrm>
            <a:off x="6238875" y="4000500"/>
            <a:ext cx="5381700" cy="2190900"/>
            <a:chOff x="6238875" y="4000500"/>
            <a:chExt cx="5381700" cy="2190900"/>
          </a:xfrm>
        </p:grpSpPr>
        <p:sp>
          <p:nvSpPr>
            <p:cNvPr id="296" name="Google Shape;296;p10"/>
            <p:cNvSpPr/>
            <p:nvPr/>
          </p:nvSpPr>
          <p:spPr>
            <a:xfrm>
              <a:off x="6238875" y="4000500"/>
              <a:ext cx="5381700" cy="2190900"/>
            </a:xfrm>
            <a:prstGeom prst="roundRect">
              <a:avLst>
                <a:gd fmla="val 5217" name="adj"/>
              </a:avLst>
            </a:prstGeom>
            <a:solidFill>
              <a:srgbClr val="F3F4F6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10"/>
            <p:cNvSpPr txBox="1"/>
            <p:nvPr/>
          </p:nvSpPr>
          <p:spPr>
            <a:xfrm>
              <a:off x="6429375" y="4178427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rgbClr val="0078D4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smart_toy</a:t>
              </a:r>
              <a:endParaRPr sz="2400">
                <a:solidFill>
                  <a:srgbClr val="0078D4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298" name="Google Shape;298;p10"/>
            <p:cNvSpPr txBox="1"/>
            <p:nvPr/>
          </p:nvSpPr>
          <p:spPr>
            <a:xfrm>
              <a:off x="6429375" y="4524375"/>
              <a:ext cx="5000700" cy="15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900">
                  <a:solidFill>
                    <a:srgbClr val="0078D4"/>
                  </a:solidFill>
                  <a:latin typeface="Arial"/>
                  <a:ea typeface="Arial"/>
                  <a:cs typeface="Arial"/>
                  <a:sym typeface="Arial"/>
                </a:rPr>
                <a:t>Transferencia a Entorno Real</a:t>
              </a:r>
              <a:endParaRPr b="1" sz="1900">
                <a:solidFill>
                  <a:srgbClr val="0078D4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600">
                  <a:solidFill>
                    <a:srgbClr val="1F2937"/>
                  </a:solidFill>
                  <a:latin typeface="Arial"/>
                  <a:ea typeface="Arial"/>
                  <a:cs typeface="Arial"/>
                  <a:sym typeface="Arial"/>
                </a:rPr>
                <a:t>Experimentos de "Sim-to-Real" para evaluar la factibilidad de políticas aprendidas en robots móviles físicos.</a:t>
              </a:r>
              <a:endParaRPr b="0" sz="1600">
                <a:solidFill>
                  <a:srgbClr val="1F2937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66CC"/>
      </a:accent1>
      <a:accent2>
        <a:srgbClr val="3399FF"/>
      </a:accent2>
      <a:accent3>
        <a:srgbClr val="FFFFFF"/>
      </a:accent3>
      <a:accent4>
        <a:srgbClr val="000000"/>
      </a:accent4>
      <a:accent5>
        <a:srgbClr val="AAB8E2"/>
      </a:accent5>
      <a:accent6>
        <a:srgbClr val="2D8AE7"/>
      </a:accent6>
      <a:hlink>
        <a:srgbClr val="CC3300"/>
      </a:hlink>
      <a:folHlink>
        <a:srgbClr val="9966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66CC"/>
      </a:accent1>
      <a:accent2>
        <a:srgbClr val="3399FF"/>
      </a:accent2>
      <a:accent3>
        <a:srgbClr val="FFFFFF"/>
      </a:accent3>
      <a:accent4>
        <a:srgbClr val="000000"/>
      </a:accent4>
      <a:accent5>
        <a:srgbClr val="AAB8E2"/>
      </a:accent5>
      <a:accent6>
        <a:srgbClr val="2D8AE7"/>
      </a:accent6>
      <a:hlink>
        <a:srgbClr val="CC3300"/>
      </a:hlink>
      <a:folHlink>
        <a:srgbClr val="9966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2025-05-08T13:15:28Z</dcterms:created>
  <dc:creator>ruben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ICV">
    <vt:lpwstr/>
  </property>
  <property fmtid="{D5CDD505-2E9C-101B-9397-08002B2CF9AE}" pid="6" name="KSOProductBuildVer">
    <vt:lpwstr>1033-11.1.0.11664</vt:lpwstr>
  </property>
  <property fmtid="{D5CDD505-2E9C-101B-9397-08002B2CF9AE}" pid="7" name="LinksUpToDate">
    <vt:bool>false</vt:bool>
  </property>
  <property fmtid="{D5CDD505-2E9C-101B-9397-08002B2CF9AE}" pid="8" name="MMClips">
    <vt:i4>0</vt:i4>
  </property>
  <property fmtid="{D5CDD505-2E9C-101B-9397-08002B2CF9AE}" pid="9" name="Notes">
    <vt:i4>0</vt:i4>
  </property>
  <property fmtid="{D5CDD505-2E9C-101B-9397-08002B2CF9AE}" pid="10" name="PresentationFormat">
    <vt:lpwstr>Widescreen</vt:lpwstr>
  </property>
  <property fmtid="{D5CDD505-2E9C-101B-9397-08002B2CF9AE}" pid="11" name="ScaleCrop">
    <vt:bool>false</vt:bool>
  </property>
  <property fmtid="{D5CDD505-2E9C-101B-9397-08002B2CF9AE}" pid="12" name="ShareDoc">
    <vt:bool>false</vt:bool>
  </property>
  <property fmtid="{D5CDD505-2E9C-101B-9397-08002B2CF9AE}" pid="13" name="Slides">
    <vt:i4>10</vt:i4>
  </property>
</Properties>
</file>